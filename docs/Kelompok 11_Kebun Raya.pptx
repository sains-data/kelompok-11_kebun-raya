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Stella" charset="1" panose="00000000000000000000"/>
      <p:regular r:id="rId15"/>
    </p:embeddedFont>
    <p:embeddedFont>
      <p:font typeface="Gliker" charset="1" panose="00000500000000000000"/>
      <p:regular r:id="rId16"/>
    </p:embeddedFont>
    <p:embeddedFont>
      <p:font typeface="Hammersmith One" charset="1" panose="020107030305010605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21.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TextBox 2" id="2"/>
          <p:cNvSpPr txBox="true"/>
          <p:nvPr/>
        </p:nvSpPr>
        <p:spPr>
          <a:xfrm rot="0">
            <a:off x="2574559" y="2117032"/>
            <a:ext cx="13135851" cy="4523871"/>
          </a:xfrm>
          <a:prstGeom prst="rect">
            <a:avLst/>
          </a:prstGeom>
        </p:spPr>
        <p:txBody>
          <a:bodyPr anchor="t" rtlCol="false" tIns="0" lIns="0" bIns="0" rIns="0">
            <a:spAutoFit/>
          </a:bodyPr>
          <a:lstStyle/>
          <a:p>
            <a:pPr algn="ctr">
              <a:lnSpc>
                <a:spcPts val="11932"/>
              </a:lnSpc>
              <a:spcBef>
                <a:spcPct val="0"/>
              </a:spcBef>
            </a:pPr>
            <a:r>
              <a:rPr lang="en-US" sz="8523">
                <a:solidFill>
                  <a:srgbClr val="4E5C39"/>
                </a:solidFill>
                <a:latin typeface="Stella"/>
                <a:ea typeface="Stella"/>
                <a:cs typeface="Stella"/>
                <a:sym typeface="Stella"/>
              </a:rPr>
              <a:t>IMPLEMENTASI DATA MART PADA KEBUN RAYA INSTITUT TEKNOLOGI SUMATERA </a:t>
            </a:r>
          </a:p>
        </p:txBody>
      </p:sp>
      <p:sp>
        <p:nvSpPr>
          <p:cNvPr name="Freeform 3" id="3"/>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3322659">
            <a:off x="-699796" y="4757577"/>
            <a:ext cx="3864967" cy="6110620"/>
          </a:xfrm>
          <a:custGeom>
            <a:avLst/>
            <a:gdLst/>
            <a:ahLst/>
            <a:cxnLst/>
            <a:rect r="r" b="b" t="t" l="l"/>
            <a:pathLst>
              <a:path h="6110620" w="3864967">
                <a:moveTo>
                  <a:pt x="3864967" y="0"/>
                </a:moveTo>
                <a:lnTo>
                  <a:pt x="0" y="0"/>
                </a:lnTo>
                <a:lnTo>
                  <a:pt x="0" y="6110620"/>
                </a:lnTo>
                <a:lnTo>
                  <a:pt x="3864967" y="6110620"/>
                </a:lnTo>
                <a:lnTo>
                  <a:pt x="3864967" y="0"/>
                </a:lnTo>
                <a:close/>
              </a:path>
            </a:pathLst>
          </a:custGeom>
          <a:blipFill>
            <a:blip r:embed="rId8"/>
            <a:stretch>
              <a:fillRect l="0" t="0" r="0" b="0"/>
            </a:stretch>
          </a:blipFill>
        </p:spPr>
      </p:sp>
      <p:sp>
        <p:nvSpPr>
          <p:cNvPr name="Freeform 10" id="10"/>
          <p:cNvSpPr/>
          <p:nvPr/>
        </p:nvSpPr>
        <p:spPr>
          <a:xfrm flipH="false" flipV="true" rot="3322659">
            <a:off x="15132999" y="-586186"/>
            <a:ext cx="3908196" cy="6178966"/>
          </a:xfrm>
          <a:custGeom>
            <a:avLst/>
            <a:gdLst/>
            <a:ahLst/>
            <a:cxnLst/>
            <a:rect r="r" b="b" t="t" l="l"/>
            <a:pathLst>
              <a:path h="6178966" w="3908196">
                <a:moveTo>
                  <a:pt x="0" y="6178966"/>
                </a:moveTo>
                <a:lnTo>
                  <a:pt x="3908196" y="6178966"/>
                </a:lnTo>
                <a:lnTo>
                  <a:pt x="3908196" y="0"/>
                </a:lnTo>
                <a:lnTo>
                  <a:pt x="0" y="0"/>
                </a:lnTo>
                <a:lnTo>
                  <a:pt x="0" y="6178966"/>
                </a:lnTo>
                <a:close/>
              </a:path>
            </a:pathLst>
          </a:custGeom>
          <a:blipFill>
            <a:blip r:embed="rId8"/>
            <a:stretch>
              <a:fillRect l="0" t="0" r="0" b="0"/>
            </a:stretch>
          </a:blipFill>
        </p:spPr>
      </p:sp>
      <p:sp>
        <p:nvSpPr>
          <p:cNvPr name="Freeform 11" id="11"/>
          <p:cNvSpPr/>
          <p:nvPr/>
        </p:nvSpPr>
        <p:spPr>
          <a:xfrm flipH="false" flipV="false" rot="532512">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true" flipV="true" rot="-1562210">
            <a:off x="347231" y="-908571"/>
            <a:ext cx="2480234" cy="2155548"/>
          </a:xfrm>
          <a:custGeom>
            <a:avLst/>
            <a:gdLst/>
            <a:ahLst/>
            <a:cxnLst/>
            <a:rect r="r" b="b" t="t" l="l"/>
            <a:pathLst>
              <a:path h="2155548" w="2480234">
                <a:moveTo>
                  <a:pt x="2480234" y="2155548"/>
                </a:moveTo>
                <a:lnTo>
                  <a:pt x="0" y="2155548"/>
                </a:lnTo>
                <a:lnTo>
                  <a:pt x="0" y="0"/>
                </a:lnTo>
                <a:lnTo>
                  <a:pt x="2480234" y="0"/>
                </a:lnTo>
                <a:lnTo>
                  <a:pt x="2480234" y="2155548"/>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4108650" y="7251301"/>
            <a:ext cx="10070701" cy="704935"/>
          </a:xfrm>
          <a:prstGeom prst="rect">
            <a:avLst/>
          </a:prstGeom>
        </p:spPr>
        <p:txBody>
          <a:bodyPr anchor="t" rtlCol="false" tIns="0" lIns="0" bIns="0" rIns="0">
            <a:spAutoFit/>
          </a:bodyPr>
          <a:lstStyle/>
          <a:p>
            <a:pPr algn="ctr">
              <a:lnSpc>
                <a:spcPts val="5798"/>
              </a:lnSpc>
              <a:spcBef>
                <a:spcPct val="0"/>
              </a:spcBef>
            </a:pPr>
            <a:r>
              <a:rPr lang="en-US" sz="4141" spc="505">
                <a:solidFill>
                  <a:srgbClr val="FFFFFF"/>
                </a:solidFill>
                <a:latin typeface="Gliker"/>
                <a:ea typeface="Gliker"/>
                <a:cs typeface="Gliker"/>
                <a:sym typeface="Gliker"/>
              </a:rPr>
              <a:t>KELOMPOK 11 DATA WAREHOUSE </a:t>
            </a:r>
          </a:p>
        </p:txBody>
      </p:sp>
      <p:sp>
        <p:nvSpPr>
          <p:cNvPr name="Freeform 14" id="14"/>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true" flipV="true" rot="9198367">
            <a:off x="15726412" y="9085053"/>
            <a:ext cx="2480234" cy="2155548"/>
          </a:xfrm>
          <a:custGeom>
            <a:avLst/>
            <a:gdLst/>
            <a:ahLst/>
            <a:cxnLst/>
            <a:rect r="r" b="b" t="t" l="l"/>
            <a:pathLst>
              <a:path h="2155548" w="2480234">
                <a:moveTo>
                  <a:pt x="2480233" y="2155549"/>
                </a:moveTo>
                <a:lnTo>
                  <a:pt x="0" y="2155549"/>
                </a:lnTo>
                <a:lnTo>
                  <a:pt x="0" y="0"/>
                </a:lnTo>
                <a:lnTo>
                  <a:pt x="2480233" y="0"/>
                </a:lnTo>
                <a:lnTo>
                  <a:pt x="2480233" y="2155549"/>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15729">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249685">
            <a:off x="87291" y="-441598"/>
            <a:ext cx="2655759" cy="4198828"/>
          </a:xfrm>
          <a:custGeom>
            <a:avLst/>
            <a:gdLst/>
            <a:ahLst/>
            <a:cxnLst/>
            <a:rect r="r" b="b" t="t" l="l"/>
            <a:pathLst>
              <a:path h="4198828" w="2655759">
                <a:moveTo>
                  <a:pt x="0" y="0"/>
                </a:moveTo>
                <a:lnTo>
                  <a:pt x="2655759" y="0"/>
                </a:lnTo>
                <a:lnTo>
                  <a:pt x="2655759" y="4198828"/>
                </a:lnTo>
                <a:lnTo>
                  <a:pt x="0" y="4198828"/>
                </a:lnTo>
                <a:lnTo>
                  <a:pt x="0" y="0"/>
                </a:lnTo>
                <a:close/>
              </a:path>
            </a:pathLst>
          </a:custGeom>
          <a:blipFill>
            <a:blip r:embed="rId10"/>
            <a:stretch>
              <a:fillRect l="0" t="0" r="0" b="0"/>
            </a:stretch>
          </a:blipFill>
        </p:spPr>
      </p:sp>
      <p:sp>
        <p:nvSpPr>
          <p:cNvPr name="Freeform 10" id="10"/>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467074">
            <a:off x="15475363" y="6543419"/>
            <a:ext cx="2655759" cy="4198828"/>
          </a:xfrm>
          <a:custGeom>
            <a:avLst/>
            <a:gdLst/>
            <a:ahLst/>
            <a:cxnLst/>
            <a:rect r="r" b="b" t="t" l="l"/>
            <a:pathLst>
              <a:path h="4198828" w="2655759">
                <a:moveTo>
                  <a:pt x="0" y="0"/>
                </a:moveTo>
                <a:lnTo>
                  <a:pt x="2655759" y="0"/>
                </a:lnTo>
                <a:lnTo>
                  <a:pt x="2655759" y="4198829"/>
                </a:lnTo>
                <a:lnTo>
                  <a:pt x="0" y="4198829"/>
                </a:lnTo>
                <a:lnTo>
                  <a:pt x="0" y="0"/>
                </a:lnTo>
                <a:close/>
              </a:path>
            </a:pathLst>
          </a:custGeom>
          <a:blipFill>
            <a:blip r:embed="rId10"/>
            <a:stretch>
              <a:fillRect l="0" t="0" r="0" b="0"/>
            </a:stretch>
          </a:blipFill>
        </p:spPr>
      </p:sp>
      <p:sp>
        <p:nvSpPr>
          <p:cNvPr name="Freeform 12" id="12"/>
          <p:cNvSpPr/>
          <p:nvPr/>
        </p:nvSpPr>
        <p:spPr>
          <a:xfrm flipH="true" flipV="true" rot="-8620296">
            <a:off x="-724011" y="8772505"/>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8620296">
            <a:off x="16795993" y="-440805"/>
            <a:ext cx="2147263" cy="1866166"/>
          </a:xfrm>
          <a:custGeom>
            <a:avLst/>
            <a:gdLst/>
            <a:ahLst/>
            <a:cxnLst/>
            <a:rect r="r" b="b" t="t" l="l"/>
            <a:pathLst>
              <a:path h="1866166" w="2147263">
                <a:moveTo>
                  <a:pt x="0" y="0"/>
                </a:moveTo>
                <a:lnTo>
                  <a:pt x="2147263" y="0"/>
                </a:lnTo>
                <a:lnTo>
                  <a:pt x="2147263" y="1866167"/>
                </a:lnTo>
                <a:lnTo>
                  <a:pt x="0" y="18661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4" id="14"/>
          <p:cNvGrpSpPr/>
          <p:nvPr/>
        </p:nvGrpSpPr>
        <p:grpSpPr>
          <a:xfrm rot="0">
            <a:off x="1318440" y="3559584"/>
            <a:ext cx="701665" cy="70166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5C39"/>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7" id="17"/>
          <p:cNvSpPr txBox="true"/>
          <p:nvPr/>
        </p:nvSpPr>
        <p:spPr>
          <a:xfrm rot="0">
            <a:off x="7093843" y="1257315"/>
            <a:ext cx="4100314" cy="863600"/>
          </a:xfrm>
          <a:prstGeom prst="rect">
            <a:avLst/>
          </a:prstGeom>
        </p:spPr>
        <p:txBody>
          <a:bodyPr anchor="t" rtlCol="false" tIns="0" lIns="0" bIns="0" rIns="0">
            <a:spAutoFit/>
          </a:bodyPr>
          <a:lstStyle/>
          <a:p>
            <a:pPr algn="ctr">
              <a:lnSpc>
                <a:spcPts val="7000"/>
              </a:lnSpc>
              <a:spcBef>
                <a:spcPct val="0"/>
              </a:spcBef>
            </a:pPr>
            <a:r>
              <a:rPr lang="en-US" sz="5000" spc="610">
                <a:solidFill>
                  <a:srgbClr val="FFFFFF"/>
                </a:solidFill>
                <a:latin typeface="Gliker"/>
                <a:ea typeface="Gliker"/>
                <a:cs typeface="Gliker"/>
                <a:sym typeface="Gliker"/>
              </a:rPr>
              <a:t>OUR TEAM </a:t>
            </a:r>
          </a:p>
        </p:txBody>
      </p:sp>
      <p:sp>
        <p:nvSpPr>
          <p:cNvPr name="TextBox 18" id="18"/>
          <p:cNvSpPr txBox="true"/>
          <p:nvPr/>
        </p:nvSpPr>
        <p:spPr>
          <a:xfrm rot="0">
            <a:off x="2720388" y="3483384"/>
            <a:ext cx="12847225" cy="704935"/>
          </a:xfrm>
          <a:prstGeom prst="rect">
            <a:avLst/>
          </a:prstGeom>
        </p:spPr>
        <p:txBody>
          <a:bodyPr anchor="t" rtlCol="false" tIns="0" lIns="0" bIns="0" rIns="0">
            <a:spAutoFit/>
          </a:bodyPr>
          <a:lstStyle/>
          <a:p>
            <a:pPr algn="ctr">
              <a:lnSpc>
                <a:spcPts val="5798"/>
              </a:lnSpc>
              <a:spcBef>
                <a:spcPct val="0"/>
              </a:spcBef>
            </a:pPr>
            <a:r>
              <a:rPr lang="en-US" sz="4141" spc="505">
                <a:solidFill>
                  <a:srgbClr val="FFFFFF"/>
                </a:solidFill>
                <a:latin typeface="Gliker"/>
                <a:ea typeface="Gliker"/>
                <a:cs typeface="Gliker"/>
                <a:sym typeface="Gliker"/>
              </a:rPr>
              <a:t>KARTINI LOVIAN SIMBOLON (122450003) </a:t>
            </a:r>
          </a:p>
        </p:txBody>
      </p:sp>
      <p:sp>
        <p:nvSpPr>
          <p:cNvPr name="TextBox 19" id="19"/>
          <p:cNvSpPr txBox="true"/>
          <p:nvPr/>
        </p:nvSpPr>
        <p:spPr>
          <a:xfrm rot="0">
            <a:off x="2720388" y="4796004"/>
            <a:ext cx="10438341" cy="704935"/>
          </a:xfrm>
          <a:prstGeom prst="rect">
            <a:avLst/>
          </a:prstGeom>
        </p:spPr>
        <p:txBody>
          <a:bodyPr anchor="t" rtlCol="false" tIns="0" lIns="0" bIns="0" rIns="0">
            <a:spAutoFit/>
          </a:bodyPr>
          <a:lstStyle/>
          <a:p>
            <a:pPr algn="ctr">
              <a:lnSpc>
                <a:spcPts val="5798"/>
              </a:lnSpc>
              <a:spcBef>
                <a:spcPct val="0"/>
              </a:spcBef>
            </a:pPr>
            <a:r>
              <a:rPr lang="en-US" sz="4141" spc="505">
                <a:solidFill>
                  <a:srgbClr val="FFFFFF"/>
                </a:solidFill>
                <a:latin typeface="Gliker"/>
                <a:ea typeface="Gliker"/>
                <a:cs typeface="Gliker"/>
                <a:sym typeface="Gliker"/>
              </a:rPr>
              <a:t>NASYWA NUR AFIFAH (122450125)</a:t>
            </a:r>
          </a:p>
        </p:txBody>
      </p:sp>
      <p:sp>
        <p:nvSpPr>
          <p:cNvPr name="TextBox 20" id="20"/>
          <p:cNvSpPr txBox="true"/>
          <p:nvPr/>
        </p:nvSpPr>
        <p:spPr>
          <a:xfrm rot="0">
            <a:off x="2720388" y="6153946"/>
            <a:ext cx="10910606" cy="704935"/>
          </a:xfrm>
          <a:prstGeom prst="rect">
            <a:avLst/>
          </a:prstGeom>
        </p:spPr>
        <p:txBody>
          <a:bodyPr anchor="t" rtlCol="false" tIns="0" lIns="0" bIns="0" rIns="0">
            <a:spAutoFit/>
          </a:bodyPr>
          <a:lstStyle/>
          <a:p>
            <a:pPr algn="ctr">
              <a:lnSpc>
                <a:spcPts val="5798"/>
              </a:lnSpc>
              <a:spcBef>
                <a:spcPct val="0"/>
              </a:spcBef>
            </a:pPr>
            <a:r>
              <a:rPr lang="en-US" sz="4141" spc="505">
                <a:solidFill>
                  <a:srgbClr val="FFFFFF"/>
                </a:solidFill>
                <a:latin typeface="Gliker"/>
                <a:ea typeface="Gliker"/>
                <a:cs typeface="Gliker"/>
                <a:sym typeface="Gliker"/>
              </a:rPr>
              <a:t>ERMA DANIAR SAFITRI (123450061)</a:t>
            </a:r>
          </a:p>
        </p:txBody>
      </p:sp>
      <p:sp>
        <p:nvSpPr>
          <p:cNvPr name="TextBox 21" id="21"/>
          <p:cNvSpPr txBox="true"/>
          <p:nvPr/>
        </p:nvSpPr>
        <p:spPr>
          <a:xfrm rot="0">
            <a:off x="2610244" y="7468481"/>
            <a:ext cx="13517813" cy="704935"/>
          </a:xfrm>
          <a:prstGeom prst="rect">
            <a:avLst/>
          </a:prstGeom>
        </p:spPr>
        <p:txBody>
          <a:bodyPr anchor="t" rtlCol="false" tIns="0" lIns="0" bIns="0" rIns="0">
            <a:spAutoFit/>
          </a:bodyPr>
          <a:lstStyle/>
          <a:p>
            <a:pPr algn="ctr">
              <a:lnSpc>
                <a:spcPts val="5798"/>
              </a:lnSpc>
              <a:spcBef>
                <a:spcPct val="0"/>
              </a:spcBef>
            </a:pPr>
            <a:r>
              <a:rPr lang="en-US" sz="4141" spc="505">
                <a:solidFill>
                  <a:srgbClr val="FFFFFF"/>
                </a:solidFill>
                <a:latin typeface="Gliker"/>
                <a:ea typeface="Gliker"/>
                <a:cs typeface="Gliker"/>
                <a:sym typeface="Gliker"/>
              </a:rPr>
              <a:t>GINDA FAJAR RIADI MARPAUNG (123450103)</a:t>
            </a:r>
          </a:p>
        </p:txBody>
      </p:sp>
      <p:grpSp>
        <p:nvGrpSpPr>
          <p:cNvPr name="Group 22" id="22"/>
          <p:cNvGrpSpPr/>
          <p:nvPr/>
        </p:nvGrpSpPr>
        <p:grpSpPr>
          <a:xfrm rot="0">
            <a:off x="1318440" y="4835739"/>
            <a:ext cx="701665" cy="70166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5C39"/>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1332923" y="6230146"/>
            <a:ext cx="701665" cy="701665"/>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5C39"/>
            </a:soli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318440" y="7508216"/>
            <a:ext cx="701665" cy="70166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E5C39"/>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460731" y="3687392"/>
            <a:ext cx="446049" cy="44604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0">
            <a:off x="1446248" y="4963547"/>
            <a:ext cx="446049" cy="446049"/>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7" id="37"/>
          <p:cNvGrpSpPr/>
          <p:nvPr/>
        </p:nvGrpSpPr>
        <p:grpSpPr>
          <a:xfrm rot="0">
            <a:off x="1460731" y="6357954"/>
            <a:ext cx="446049" cy="446049"/>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40" id="40"/>
          <p:cNvGrpSpPr/>
          <p:nvPr/>
        </p:nvGrpSpPr>
        <p:grpSpPr>
          <a:xfrm rot="0">
            <a:off x="1446248" y="7636661"/>
            <a:ext cx="446049" cy="44604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839222" y="5866688"/>
            <a:ext cx="6262520" cy="6262520"/>
          </a:xfrm>
          <a:custGeom>
            <a:avLst/>
            <a:gdLst/>
            <a:ahLst/>
            <a:cxnLst/>
            <a:rect r="r" b="b" t="t" l="l"/>
            <a:pathLst>
              <a:path h="6262520" w="6262520">
                <a:moveTo>
                  <a:pt x="6262521" y="6262521"/>
                </a:moveTo>
                <a:lnTo>
                  <a:pt x="0" y="6262521"/>
                </a:lnTo>
                <a:lnTo>
                  <a:pt x="0" y="0"/>
                </a:lnTo>
                <a:lnTo>
                  <a:pt x="6262521" y="0"/>
                </a:lnTo>
                <a:lnTo>
                  <a:pt x="6262521"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322659">
            <a:off x="-614666" y="5810005"/>
            <a:ext cx="3227562" cy="5102865"/>
          </a:xfrm>
          <a:custGeom>
            <a:avLst/>
            <a:gdLst/>
            <a:ahLst/>
            <a:cxnLst/>
            <a:rect r="r" b="b" t="t" l="l"/>
            <a:pathLst>
              <a:path h="5102865" w="3227562">
                <a:moveTo>
                  <a:pt x="3227562" y="0"/>
                </a:moveTo>
                <a:lnTo>
                  <a:pt x="0" y="0"/>
                </a:lnTo>
                <a:lnTo>
                  <a:pt x="0" y="5102865"/>
                </a:lnTo>
                <a:lnTo>
                  <a:pt x="3227562" y="5102865"/>
                </a:lnTo>
                <a:lnTo>
                  <a:pt x="3227562" y="0"/>
                </a:lnTo>
                <a:close/>
              </a:path>
            </a:pathLst>
          </a:custGeom>
          <a:blipFill>
            <a:blip r:embed="rId8"/>
            <a:stretch>
              <a:fillRect l="0" t="0" r="0" b="0"/>
            </a:stretch>
          </a:blipFill>
        </p:spPr>
      </p:sp>
      <p:sp>
        <p:nvSpPr>
          <p:cNvPr name="Freeform 9" id="9"/>
          <p:cNvSpPr/>
          <p:nvPr/>
        </p:nvSpPr>
        <p:spPr>
          <a:xfrm flipH="false" flipV="true" rot="3322659">
            <a:off x="15782135" y="-638694"/>
            <a:ext cx="3158999" cy="4994465"/>
          </a:xfrm>
          <a:custGeom>
            <a:avLst/>
            <a:gdLst/>
            <a:ahLst/>
            <a:cxnLst/>
            <a:rect r="r" b="b" t="t" l="l"/>
            <a:pathLst>
              <a:path h="4994465" w="3158999">
                <a:moveTo>
                  <a:pt x="0" y="4994465"/>
                </a:moveTo>
                <a:lnTo>
                  <a:pt x="3158999" y="4994465"/>
                </a:lnTo>
                <a:lnTo>
                  <a:pt x="3158999" y="0"/>
                </a:lnTo>
                <a:lnTo>
                  <a:pt x="0" y="0"/>
                </a:lnTo>
                <a:lnTo>
                  <a:pt x="0" y="4994465"/>
                </a:lnTo>
                <a:close/>
              </a:path>
            </a:pathLst>
          </a:custGeom>
          <a:blipFill>
            <a:blip r:embed="rId8"/>
            <a:stretch>
              <a:fillRect l="0" t="0" r="0" b="0"/>
            </a:stretch>
          </a:blipFill>
        </p:spPr>
      </p:sp>
      <p:sp>
        <p:nvSpPr>
          <p:cNvPr name="Freeform 10" id="10"/>
          <p:cNvSpPr/>
          <p:nvPr/>
        </p:nvSpPr>
        <p:spPr>
          <a:xfrm flipH="false" flipV="false" rot="532512">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true" rot="-1562210">
            <a:off x="347231" y="-908571"/>
            <a:ext cx="2480234" cy="2155548"/>
          </a:xfrm>
          <a:custGeom>
            <a:avLst/>
            <a:gdLst/>
            <a:ahLst/>
            <a:cxnLst/>
            <a:rect r="r" b="b" t="t" l="l"/>
            <a:pathLst>
              <a:path h="2155548" w="2480234">
                <a:moveTo>
                  <a:pt x="2480234" y="2155548"/>
                </a:moveTo>
                <a:lnTo>
                  <a:pt x="0" y="2155548"/>
                </a:lnTo>
                <a:lnTo>
                  <a:pt x="0" y="0"/>
                </a:lnTo>
                <a:lnTo>
                  <a:pt x="2480234" y="0"/>
                </a:lnTo>
                <a:lnTo>
                  <a:pt x="2480234" y="2155548"/>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true" flipV="true" rot="9198367">
            <a:off x="15726412" y="9085053"/>
            <a:ext cx="2480234" cy="2155548"/>
          </a:xfrm>
          <a:custGeom>
            <a:avLst/>
            <a:gdLst/>
            <a:ahLst/>
            <a:cxnLst/>
            <a:rect r="r" b="b" t="t" l="l"/>
            <a:pathLst>
              <a:path h="2155548" w="2480234">
                <a:moveTo>
                  <a:pt x="2480233" y="2155549"/>
                </a:moveTo>
                <a:lnTo>
                  <a:pt x="0" y="2155549"/>
                </a:lnTo>
                <a:lnTo>
                  <a:pt x="0" y="0"/>
                </a:lnTo>
                <a:lnTo>
                  <a:pt x="2480233" y="0"/>
                </a:lnTo>
                <a:lnTo>
                  <a:pt x="2480233" y="2155549"/>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3142962" y="1464997"/>
            <a:ext cx="19822980" cy="9262738"/>
          </a:xfrm>
          <a:custGeom>
            <a:avLst/>
            <a:gdLst/>
            <a:ahLst/>
            <a:cxnLst/>
            <a:rect r="r" b="b" t="t" l="l"/>
            <a:pathLst>
              <a:path h="9262738" w="19822980">
                <a:moveTo>
                  <a:pt x="0" y="0"/>
                </a:moveTo>
                <a:lnTo>
                  <a:pt x="19822980" y="0"/>
                </a:lnTo>
                <a:lnTo>
                  <a:pt x="19822980" y="9262738"/>
                </a:lnTo>
                <a:lnTo>
                  <a:pt x="0" y="9262738"/>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5" id="15"/>
          <p:cNvGrpSpPr/>
          <p:nvPr/>
        </p:nvGrpSpPr>
        <p:grpSpPr>
          <a:xfrm rot="0">
            <a:off x="-2038229" y="2851051"/>
            <a:ext cx="6407249" cy="640724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304112" y="4350563"/>
            <a:ext cx="3174695" cy="3408225"/>
          </a:xfrm>
          <a:custGeom>
            <a:avLst/>
            <a:gdLst/>
            <a:ahLst/>
            <a:cxnLst/>
            <a:rect r="r" b="b" t="t" l="l"/>
            <a:pathLst>
              <a:path h="3408225" w="3174695">
                <a:moveTo>
                  <a:pt x="0" y="0"/>
                </a:moveTo>
                <a:lnTo>
                  <a:pt x="3174695" y="0"/>
                </a:lnTo>
                <a:lnTo>
                  <a:pt x="3174695" y="3408225"/>
                </a:lnTo>
                <a:lnTo>
                  <a:pt x="0" y="340822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9" id="19"/>
          <p:cNvSpPr txBox="true"/>
          <p:nvPr/>
        </p:nvSpPr>
        <p:spPr>
          <a:xfrm rot="0">
            <a:off x="3354635" y="268022"/>
            <a:ext cx="11578729" cy="863600"/>
          </a:xfrm>
          <a:prstGeom prst="rect">
            <a:avLst/>
          </a:prstGeom>
        </p:spPr>
        <p:txBody>
          <a:bodyPr anchor="t" rtlCol="false" tIns="0" lIns="0" bIns="0" rIns="0">
            <a:spAutoFit/>
          </a:bodyPr>
          <a:lstStyle/>
          <a:p>
            <a:pPr algn="ctr" marL="0" indent="0" lvl="0">
              <a:lnSpc>
                <a:spcPts val="7000"/>
              </a:lnSpc>
              <a:spcBef>
                <a:spcPct val="0"/>
              </a:spcBef>
            </a:pPr>
            <a:r>
              <a:rPr lang="en-US" sz="5000" spc="610">
                <a:solidFill>
                  <a:srgbClr val="FFFFFF"/>
                </a:solidFill>
                <a:latin typeface="Gliker"/>
                <a:ea typeface="Gliker"/>
                <a:cs typeface="Gliker"/>
                <a:sym typeface="Gliker"/>
              </a:rPr>
              <a:t>LATAR BELAKANG &amp; MASALAH </a:t>
            </a:r>
          </a:p>
        </p:txBody>
      </p:sp>
      <p:sp>
        <p:nvSpPr>
          <p:cNvPr name="TextBox 20" id="20"/>
          <p:cNvSpPr txBox="true"/>
          <p:nvPr/>
        </p:nvSpPr>
        <p:spPr>
          <a:xfrm rot="0">
            <a:off x="1318440" y="2007487"/>
            <a:ext cx="13372794" cy="508672"/>
          </a:xfrm>
          <a:prstGeom prst="rect">
            <a:avLst/>
          </a:prstGeom>
        </p:spPr>
        <p:txBody>
          <a:bodyPr anchor="t" rtlCol="false" tIns="0" lIns="0" bIns="0" rIns="0">
            <a:spAutoFit/>
          </a:bodyPr>
          <a:lstStyle/>
          <a:p>
            <a:pPr algn="ctr">
              <a:lnSpc>
                <a:spcPts val="4201"/>
              </a:lnSpc>
              <a:spcBef>
                <a:spcPct val="0"/>
              </a:spcBef>
            </a:pPr>
            <a:r>
              <a:rPr lang="en-US" sz="3001" spc="195">
                <a:solidFill>
                  <a:srgbClr val="FFFFFF"/>
                </a:solidFill>
                <a:latin typeface="Hammersmith One"/>
                <a:ea typeface="Hammersmith One"/>
                <a:cs typeface="Hammersmith One"/>
                <a:sym typeface="Hammersmith One"/>
              </a:rPr>
              <a:t>Problem</a:t>
            </a:r>
          </a:p>
        </p:txBody>
      </p:sp>
      <p:sp>
        <p:nvSpPr>
          <p:cNvPr name="TextBox 21" id="21"/>
          <p:cNvSpPr txBox="true"/>
          <p:nvPr/>
        </p:nvSpPr>
        <p:spPr>
          <a:xfrm rot="0">
            <a:off x="2212314" y="5224107"/>
            <a:ext cx="11585045" cy="504825"/>
          </a:xfrm>
          <a:prstGeom prst="rect">
            <a:avLst/>
          </a:prstGeom>
        </p:spPr>
        <p:txBody>
          <a:bodyPr anchor="t" rtlCol="false" tIns="0" lIns="0" bIns="0" rIns="0">
            <a:spAutoFit/>
          </a:bodyPr>
          <a:lstStyle/>
          <a:p>
            <a:pPr algn="ctr">
              <a:lnSpc>
                <a:spcPts val="4199"/>
              </a:lnSpc>
              <a:spcBef>
                <a:spcPct val="0"/>
              </a:spcBef>
            </a:pPr>
            <a:r>
              <a:rPr lang="en-US" sz="2999" spc="194">
                <a:solidFill>
                  <a:srgbClr val="FFFFFF"/>
                </a:solidFill>
                <a:latin typeface="Hammersmith One"/>
                <a:ea typeface="Hammersmith One"/>
                <a:cs typeface="Hammersmith One"/>
                <a:sym typeface="Hammersmith One"/>
              </a:rPr>
              <a:t>Impact</a:t>
            </a:r>
          </a:p>
        </p:txBody>
      </p:sp>
      <p:sp>
        <p:nvSpPr>
          <p:cNvPr name="TextBox 22" id="22"/>
          <p:cNvSpPr txBox="true"/>
          <p:nvPr/>
        </p:nvSpPr>
        <p:spPr>
          <a:xfrm rot="0">
            <a:off x="2212314" y="8304287"/>
            <a:ext cx="11585045" cy="514350"/>
          </a:xfrm>
          <a:prstGeom prst="rect">
            <a:avLst/>
          </a:prstGeom>
        </p:spPr>
        <p:txBody>
          <a:bodyPr anchor="t" rtlCol="false" tIns="0" lIns="0" bIns="0" rIns="0">
            <a:spAutoFit/>
          </a:bodyPr>
          <a:lstStyle/>
          <a:p>
            <a:pPr algn="ctr">
              <a:lnSpc>
                <a:spcPts val="4200"/>
              </a:lnSpc>
              <a:spcBef>
                <a:spcPct val="0"/>
              </a:spcBef>
            </a:pPr>
            <a:r>
              <a:rPr lang="en-US" sz="3000" spc="195">
                <a:solidFill>
                  <a:srgbClr val="FFFFFF"/>
                </a:solidFill>
                <a:latin typeface="Hammersmith One"/>
                <a:ea typeface="Hammersmith One"/>
                <a:cs typeface="Hammersmith One"/>
                <a:sym typeface="Hammersmith One"/>
              </a:rPr>
              <a:t>Solution</a:t>
            </a:r>
          </a:p>
        </p:txBody>
      </p:sp>
      <p:sp>
        <p:nvSpPr>
          <p:cNvPr name="TextBox 23" id="23"/>
          <p:cNvSpPr txBox="true"/>
          <p:nvPr/>
        </p:nvSpPr>
        <p:spPr>
          <a:xfrm rot="0">
            <a:off x="7141364" y="2478807"/>
            <a:ext cx="8998395" cy="1323767"/>
          </a:xfrm>
          <a:prstGeom prst="rect">
            <a:avLst/>
          </a:prstGeom>
        </p:spPr>
        <p:txBody>
          <a:bodyPr anchor="t" rtlCol="false" tIns="0" lIns="0" bIns="0" rIns="0">
            <a:spAutoFit/>
          </a:bodyPr>
          <a:lstStyle/>
          <a:p>
            <a:pPr algn="just">
              <a:lnSpc>
                <a:spcPts val="2111"/>
              </a:lnSpc>
              <a:spcBef>
                <a:spcPct val="0"/>
              </a:spcBef>
            </a:pPr>
            <a:r>
              <a:rPr lang="en-US" sz="1508" spc="98">
                <a:solidFill>
                  <a:srgbClr val="FFFFFF"/>
                </a:solidFill>
                <a:latin typeface="Hammersmith One"/>
                <a:ea typeface="Hammersmith One"/>
                <a:cs typeface="Hammersmith One"/>
                <a:sym typeface="Hammersmith One"/>
              </a:rPr>
              <a:t>Kebun Raya ITERA menghadapi permasalahan data silos karena data koleksi tanaman, data iklim, dan data kunjungan wisata tersimpan secara terpisah dan sebagian masih dicatat manual. Kondisi ini menyebabkan data tidak terstandarisasi, sulit diakses, serta tidak dapat digunakan secara langsung untuk analisis konservasi maupun pengelolaan wisata.</a:t>
            </a:r>
          </a:p>
        </p:txBody>
      </p:sp>
      <p:sp>
        <p:nvSpPr>
          <p:cNvPr name="TextBox 24" id="24"/>
          <p:cNvSpPr txBox="true"/>
          <p:nvPr/>
        </p:nvSpPr>
        <p:spPr>
          <a:xfrm rot="0">
            <a:off x="7141364" y="5700357"/>
            <a:ext cx="8998395" cy="1323767"/>
          </a:xfrm>
          <a:prstGeom prst="rect">
            <a:avLst/>
          </a:prstGeom>
        </p:spPr>
        <p:txBody>
          <a:bodyPr anchor="t" rtlCol="false" tIns="0" lIns="0" bIns="0" rIns="0">
            <a:spAutoFit/>
          </a:bodyPr>
          <a:lstStyle/>
          <a:p>
            <a:pPr algn="just">
              <a:lnSpc>
                <a:spcPts val="2111"/>
              </a:lnSpc>
              <a:spcBef>
                <a:spcPct val="0"/>
              </a:spcBef>
            </a:pPr>
            <a:r>
              <a:rPr lang="en-US" sz="1508" spc="98">
                <a:solidFill>
                  <a:srgbClr val="FFFFFF"/>
                </a:solidFill>
                <a:latin typeface="Hammersmith One"/>
                <a:ea typeface="Hammersmith One"/>
                <a:cs typeface="Hammersmith One"/>
                <a:sym typeface="Hammersmith One"/>
              </a:rPr>
              <a:t>Akibat dari kondisi tersebut, manajemen kesulitan mengambil keputusan strategis berbasis data. Monitoring performa layanan berbayar tidak optimal sehingga berpotensi menurunkan pendapatan, laporan konservasi tidak akurat terhadap standar BGCI, dan efisiensi operasional menurun karena pola kunjungan serta kebutuhan zona prioritas tidak dapat diprediksi dengan baik.</a:t>
            </a:r>
          </a:p>
        </p:txBody>
      </p:sp>
      <p:sp>
        <p:nvSpPr>
          <p:cNvPr name="TextBox 25" id="25"/>
          <p:cNvSpPr txBox="true"/>
          <p:nvPr/>
        </p:nvSpPr>
        <p:spPr>
          <a:xfrm rot="0">
            <a:off x="7141364" y="8790062"/>
            <a:ext cx="8998395" cy="1323767"/>
          </a:xfrm>
          <a:prstGeom prst="rect">
            <a:avLst/>
          </a:prstGeom>
        </p:spPr>
        <p:txBody>
          <a:bodyPr anchor="t" rtlCol="false" tIns="0" lIns="0" bIns="0" rIns="0">
            <a:spAutoFit/>
          </a:bodyPr>
          <a:lstStyle/>
          <a:p>
            <a:pPr algn="just">
              <a:lnSpc>
                <a:spcPts val="2111"/>
              </a:lnSpc>
              <a:spcBef>
                <a:spcPct val="0"/>
              </a:spcBef>
            </a:pPr>
            <a:r>
              <a:rPr lang="en-US" sz="1508" spc="98">
                <a:solidFill>
                  <a:srgbClr val="FFFFFF"/>
                </a:solidFill>
                <a:latin typeface="Hammersmith One"/>
                <a:ea typeface="Hammersmith One"/>
                <a:cs typeface="Hammersmith One"/>
                <a:sym typeface="Hammersmith One"/>
              </a:rPr>
              <a:t>Solusi yang diusulkan adalah membangun Data Mart terintegrasi sebagai Single Source of Truth yang menggabungkan seluruh data heterogen melalui proses ETL. Sistem ini dilengkapi dashboard analitik untuk pemantauan real-time, prediksi pola kunjungan, analisis kesehatan tanaman, serta peningkatan efisiensi operasional dan pendapatan layanan.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15729">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249685">
            <a:off x="87291" y="-441598"/>
            <a:ext cx="2655759" cy="4198828"/>
          </a:xfrm>
          <a:custGeom>
            <a:avLst/>
            <a:gdLst/>
            <a:ahLst/>
            <a:cxnLst/>
            <a:rect r="r" b="b" t="t" l="l"/>
            <a:pathLst>
              <a:path h="4198828" w="2655759">
                <a:moveTo>
                  <a:pt x="0" y="0"/>
                </a:moveTo>
                <a:lnTo>
                  <a:pt x="2655759" y="0"/>
                </a:lnTo>
                <a:lnTo>
                  <a:pt x="2655759" y="4198828"/>
                </a:lnTo>
                <a:lnTo>
                  <a:pt x="0" y="4198828"/>
                </a:lnTo>
                <a:lnTo>
                  <a:pt x="0" y="0"/>
                </a:lnTo>
                <a:close/>
              </a:path>
            </a:pathLst>
          </a:custGeom>
          <a:blipFill>
            <a:blip r:embed="rId10"/>
            <a:stretch>
              <a:fillRect l="0" t="0" r="0" b="0"/>
            </a:stretch>
          </a:blipFill>
        </p:spPr>
      </p:sp>
      <p:sp>
        <p:nvSpPr>
          <p:cNvPr name="Freeform 10" id="10"/>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467074">
            <a:off x="15475363" y="6543419"/>
            <a:ext cx="2655759" cy="4198828"/>
          </a:xfrm>
          <a:custGeom>
            <a:avLst/>
            <a:gdLst/>
            <a:ahLst/>
            <a:cxnLst/>
            <a:rect r="r" b="b" t="t" l="l"/>
            <a:pathLst>
              <a:path h="4198828" w="2655759">
                <a:moveTo>
                  <a:pt x="0" y="0"/>
                </a:moveTo>
                <a:lnTo>
                  <a:pt x="2655759" y="0"/>
                </a:lnTo>
                <a:lnTo>
                  <a:pt x="2655759" y="4198829"/>
                </a:lnTo>
                <a:lnTo>
                  <a:pt x="0" y="4198829"/>
                </a:lnTo>
                <a:lnTo>
                  <a:pt x="0" y="0"/>
                </a:lnTo>
                <a:close/>
              </a:path>
            </a:pathLst>
          </a:custGeom>
          <a:blipFill>
            <a:blip r:embed="rId10"/>
            <a:stretch>
              <a:fillRect l="0" t="0" r="0" b="0"/>
            </a:stretch>
          </a:blipFill>
        </p:spPr>
      </p:sp>
      <p:sp>
        <p:nvSpPr>
          <p:cNvPr name="Freeform 12" id="12"/>
          <p:cNvSpPr/>
          <p:nvPr/>
        </p:nvSpPr>
        <p:spPr>
          <a:xfrm flipH="true" flipV="true" rot="-8620296">
            <a:off x="-724011" y="8772505"/>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8620296">
            <a:off x="16795993" y="-440805"/>
            <a:ext cx="2147263" cy="1866166"/>
          </a:xfrm>
          <a:custGeom>
            <a:avLst/>
            <a:gdLst/>
            <a:ahLst/>
            <a:cxnLst/>
            <a:rect r="r" b="b" t="t" l="l"/>
            <a:pathLst>
              <a:path h="1866166" w="2147263">
                <a:moveTo>
                  <a:pt x="0" y="0"/>
                </a:moveTo>
                <a:lnTo>
                  <a:pt x="2147263" y="0"/>
                </a:lnTo>
                <a:lnTo>
                  <a:pt x="2147263" y="1866167"/>
                </a:lnTo>
                <a:lnTo>
                  <a:pt x="0" y="18661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4" id="14"/>
          <p:cNvGrpSpPr/>
          <p:nvPr/>
        </p:nvGrpSpPr>
        <p:grpSpPr>
          <a:xfrm rot="0">
            <a:off x="1028700" y="3350289"/>
            <a:ext cx="7376655" cy="5292544"/>
            <a:chOff x="0" y="0"/>
            <a:chExt cx="1942823" cy="1393921"/>
          </a:xfrm>
        </p:grpSpPr>
        <p:sp>
          <p:nvSpPr>
            <p:cNvPr name="Freeform 15" id="15"/>
            <p:cNvSpPr/>
            <p:nvPr/>
          </p:nvSpPr>
          <p:spPr>
            <a:xfrm flipH="false" flipV="false" rot="0">
              <a:off x="0" y="0"/>
              <a:ext cx="1942823" cy="1393921"/>
            </a:xfrm>
            <a:custGeom>
              <a:avLst/>
              <a:gdLst/>
              <a:ahLst/>
              <a:cxnLst/>
              <a:rect r="r" b="b" t="t" l="l"/>
              <a:pathLst>
                <a:path h="1393921" w="1942823">
                  <a:moveTo>
                    <a:pt x="53525" y="0"/>
                  </a:moveTo>
                  <a:lnTo>
                    <a:pt x="1889297" y="0"/>
                  </a:lnTo>
                  <a:cubicBezTo>
                    <a:pt x="1918859" y="0"/>
                    <a:pt x="1942823" y="23964"/>
                    <a:pt x="1942823" y="53525"/>
                  </a:cubicBezTo>
                  <a:lnTo>
                    <a:pt x="1942823" y="1340396"/>
                  </a:lnTo>
                  <a:cubicBezTo>
                    <a:pt x="1942823" y="1369957"/>
                    <a:pt x="1918859" y="1393921"/>
                    <a:pt x="1889297" y="1393921"/>
                  </a:cubicBezTo>
                  <a:lnTo>
                    <a:pt x="53525" y="1393921"/>
                  </a:lnTo>
                  <a:cubicBezTo>
                    <a:pt x="23964" y="1393921"/>
                    <a:pt x="0" y="1369957"/>
                    <a:pt x="0" y="1340396"/>
                  </a:cubicBezTo>
                  <a:lnTo>
                    <a:pt x="0" y="53525"/>
                  </a:lnTo>
                  <a:cubicBezTo>
                    <a:pt x="0" y="23964"/>
                    <a:pt x="23964" y="0"/>
                    <a:pt x="53525" y="0"/>
                  </a:cubicBezTo>
                  <a:close/>
                </a:path>
              </a:pathLst>
            </a:custGeom>
            <a:solidFill>
              <a:srgbClr val="4E5C39"/>
            </a:solidFill>
          </p:spPr>
        </p:sp>
        <p:sp>
          <p:nvSpPr>
            <p:cNvPr name="TextBox 16" id="16"/>
            <p:cNvSpPr txBox="true"/>
            <p:nvPr/>
          </p:nvSpPr>
          <p:spPr>
            <a:xfrm>
              <a:off x="0" y="-38100"/>
              <a:ext cx="1942823" cy="1432021"/>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6582370" y="789081"/>
            <a:ext cx="5123259" cy="863600"/>
          </a:xfrm>
          <a:prstGeom prst="rect">
            <a:avLst/>
          </a:prstGeom>
        </p:spPr>
        <p:txBody>
          <a:bodyPr anchor="t" rtlCol="false" tIns="0" lIns="0" bIns="0" rIns="0">
            <a:spAutoFit/>
          </a:bodyPr>
          <a:lstStyle/>
          <a:p>
            <a:pPr algn="ctr" marL="0" indent="0" lvl="0">
              <a:lnSpc>
                <a:spcPts val="7000"/>
              </a:lnSpc>
              <a:spcBef>
                <a:spcPct val="0"/>
              </a:spcBef>
            </a:pPr>
            <a:r>
              <a:rPr lang="en-US" sz="5000" spc="610">
                <a:solidFill>
                  <a:srgbClr val="FFFFFF"/>
                </a:solidFill>
                <a:latin typeface="Gliker"/>
                <a:ea typeface="Gliker"/>
                <a:cs typeface="Gliker"/>
                <a:sym typeface="Gliker"/>
              </a:rPr>
              <a:t>TUJUAN &amp; KPI</a:t>
            </a:r>
          </a:p>
        </p:txBody>
      </p:sp>
      <p:sp>
        <p:nvSpPr>
          <p:cNvPr name="TextBox 18" id="18"/>
          <p:cNvSpPr txBox="true"/>
          <p:nvPr/>
        </p:nvSpPr>
        <p:spPr>
          <a:xfrm rot="0">
            <a:off x="1828508" y="3964242"/>
            <a:ext cx="5672148" cy="4559727"/>
          </a:xfrm>
          <a:prstGeom prst="rect">
            <a:avLst/>
          </a:prstGeom>
        </p:spPr>
        <p:txBody>
          <a:bodyPr anchor="t" rtlCol="false" tIns="0" lIns="0" bIns="0" rIns="0">
            <a:spAutoFit/>
          </a:bodyPr>
          <a:lstStyle/>
          <a:p>
            <a:pPr algn="just" marL="347204" indent="-173602" lvl="1">
              <a:lnSpc>
                <a:spcPts val="2251"/>
              </a:lnSpc>
              <a:buFont typeface="Arial"/>
              <a:buChar char="•"/>
            </a:pPr>
            <a:r>
              <a:rPr lang="en-US" sz="1608" spc="104">
                <a:solidFill>
                  <a:srgbClr val="FFFFFF"/>
                </a:solidFill>
                <a:latin typeface="Hammersmith One"/>
                <a:ea typeface="Hammersmith One"/>
                <a:cs typeface="Hammersmith One"/>
                <a:sym typeface="Hammersmith One"/>
              </a:rPr>
              <a:t>Sentralisasi Data Unit: Mengonsolidasikan data spesifik Kebun Raya (Inventaris Tanaman &amp; Transaksi Wisata) dari berbagai sumber terpisah ke dalam satu repositori analitik.</a:t>
            </a:r>
          </a:p>
          <a:p>
            <a:pPr algn="just">
              <a:lnSpc>
                <a:spcPts val="2251"/>
              </a:lnSpc>
            </a:pPr>
          </a:p>
          <a:p>
            <a:pPr algn="just" marL="347204" indent="-173602" lvl="1">
              <a:lnSpc>
                <a:spcPts val="2251"/>
              </a:lnSpc>
              <a:buFont typeface="Arial"/>
              <a:buChar char="•"/>
            </a:pPr>
            <a:r>
              <a:rPr lang="en-US" sz="1608" spc="104">
                <a:solidFill>
                  <a:srgbClr val="FFFFFF"/>
                </a:solidFill>
                <a:latin typeface="Hammersmith One"/>
                <a:ea typeface="Hammersmith One"/>
                <a:cs typeface="Hammersmith One"/>
                <a:sym typeface="Hammersmith One"/>
              </a:rPr>
              <a:t>Dukungan Keputusan Lokal: Menyediakan wawasan (insights) cepat bagi Manajer Kebun Raya terkait performa konservasi (sesuai standar BGCI) dan tren pendapatan layanan non-tiket.</a:t>
            </a:r>
          </a:p>
          <a:p>
            <a:pPr algn="just">
              <a:lnSpc>
                <a:spcPts val="2251"/>
              </a:lnSpc>
            </a:pPr>
          </a:p>
          <a:p>
            <a:pPr algn="just" marL="347204" indent="-173602" lvl="1">
              <a:lnSpc>
                <a:spcPts val="2251"/>
              </a:lnSpc>
              <a:buFont typeface="Arial"/>
              <a:buChar char="•"/>
            </a:pPr>
            <a:r>
              <a:rPr lang="en-US" sz="1608" spc="104">
                <a:solidFill>
                  <a:srgbClr val="FFFFFF"/>
                </a:solidFill>
                <a:latin typeface="Hammersmith One"/>
                <a:ea typeface="Hammersmith One"/>
                <a:cs typeface="Hammersmith One"/>
                <a:sym typeface="Hammersmith One"/>
              </a:rPr>
              <a:t>Visualisasi Kinerja Unit: Mengembangkan dashboard interaktif yang memvisualisasikan KPI utama Kebun Raya, seperti tingkat survival rate tanaman koleksi dan okupansi fasilitas sewa.</a:t>
            </a:r>
          </a:p>
          <a:p>
            <a:pPr algn="just" marL="0" indent="0" lvl="0">
              <a:lnSpc>
                <a:spcPts val="2251"/>
              </a:lnSpc>
              <a:spcBef>
                <a:spcPct val="0"/>
              </a:spcBef>
            </a:pPr>
          </a:p>
        </p:txBody>
      </p:sp>
      <p:grpSp>
        <p:nvGrpSpPr>
          <p:cNvPr name="Group 19" id="19"/>
          <p:cNvGrpSpPr/>
          <p:nvPr/>
        </p:nvGrpSpPr>
        <p:grpSpPr>
          <a:xfrm rot="0">
            <a:off x="9882645" y="3350289"/>
            <a:ext cx="7376655" cy="4262432"/>
            <a:chOff x="0" y="0"/>
            <a:chExt cx="1942823" cy="1122616"/>
          </a:xfrm>
        </p:grpSpPr>
        <p:sp>
          <p:nvSpPr>
            <p:cNvPr name="Freeform 20" id="20"/>
            <p:cNvSpPr/>
            <p:nvPr/>
          </p:nvSpPr>
          <p:spPr>
            <a:xfrm flipH="false" flipV="false" rot="0">
              <a:off x="0" y="0"/>
              <a:ext cx="1942823" cy="1122616"/>
            </a:xfrm>
            <a:custGeom>
              <a:avLst/>
              <a:gdLst/>
              <a:ahLst/>
              <a:cxnLst/>
              <a:rect r="r" b="b" t="t" l="l"/>
              <a:pathLst>
                <a:path h="1122616" w="1942823">
                  <a:moveTo>
                    <a:pt x="53525" y="0"/>
                  </a:moveTo>
                  <a:lnTo>
                    <a:pt x="1889297" y="0"/>
                  </a:lnTo>
                  <a:cubicBezTo>
                    <a:pt x="1918859" y="0"/>
                    <a:pt x="1942823" y="23964"/>
                    <a:pt x="1942823" y="53525"/>
                  </a:cubicBezTo>
                  <a:lnTo>
                    <a:pt x="1942823" y="1069090"/>
                  </a:lnTo>
                  <a:cubicBezTo>
                    <a:pt x="1942823" y="1098652"/>
                    <a:pt x="1918859" y="1122616"/>
                    <a:pt x="1889297" y="1122616"/>
                  </a:cubicBezTo>
                  <a:lnTo>
                    <a:pt x="53525" y="1122616"/>
                  </a:lnTo>
                  <a:cubicBezTo>
                    <a:pt x="23964" y="1122616"/>
                    <a:pt x="0" y="1098652"/>
                    <a:pt x="0" y="1069090"/>
                  </a:cubicBezTo>
                  <a:lnTo>
                    <a:pt x="0" y="53525"/>
                  </a:lnTo>
                  <a:cubicBezTo>
                    <a:pt x="0" y="23964"/>
                    <a:pt x="23964" y="0"/>
                    <a:pt x="53525" y="0"/>
                  </a:cubicBezTo>
                  <a:close/>
                </a:path>
              </a:pathLst>
            </a:custGeom>
            <a:solidFill>
              <a:srgbClr val="4E5C39"/>
            </a:solidFill>
          </p:spPr>
        </p:sp>
        <p:sp>
          <p:nvSpPr>
            <p:cNvPr name="TextBox 21" id="21"/>
            <p:cNvSpPr txBox="true"/>
            <p:nvPr/>
          </p:nvSpPr>
          <p:spPr>
            <a:xfrm>
              <a:off x="0" y="-38100"/>
              <a:ext cx="1942823" cy="1160716"/>
            </a:xfrm>
            <a:prstGeom prst="rect">
              <a:avLst/>
            </a:prstGeom>
          </p:spPr>
          <p:txBody>
            <a:bodyPr anchor="ctr" rtlCol="false" tIns="50800" lIns="50800" bIns="50800" rIns="50800"/>
            <a:lstStyle/>
            <a:p>
              <a:pPr algn="ctr">
                <a:lnSpc>
                  <a:spcPts val="2659"/>
                </a:lnSpc>
              </a:pPr>
            </a:p>
          </p:txBody>
        </p:sp>
      </p:grpSp>
      <p:sp>
        <p:nvSpPr>
          <p:cNvPr name="TextBox 22" id="22"/>
          <p:cNvSpPr txBox="true"/>
          <p:nvPr/>
        </p:nvSpPr>
        <p:spPr>
          <a:xfrm rot="0">
            <a:off x="-1127940" y="3435167"/>
            <a:ext cx="11585045" cy="438785"/>
          </a:xfrm>
          <a:prstGeom prst="rect">
            <a:avLst/>
          </a:prstGeom>
        </p:spPr>
        <p:txBody>
          <a:bodyPr anchor="t" rtlCol="false" tIns="0" lIns="0" bIns="0" rIns="0">
            <a:spAutoFit/>
          </a:bodyPr>
          <a:lstStyle/>
          <a:p>
            <a:pPr algn="ctr" marL="0" indent="0" lvl="0">
              <a:lnSpc>
                <a:spcPts val="3640"/>
              </a:lnSpc>
              <a:spcBef>
                <a:spcPct val="0"/>
              </a:spcBef>
            </a:pPr>
            <a:r>
              <a:rPr lang="en-US" sz="2600" spc="169">
                <a:solidFill>
                  <a:srgbClr val="FFFFFF"/>
                </a:solidFill>
                <a:latin typeface="Hammersmith One"/>
                <a:ea typeface="Hammersmith One"/>
                <a:cs typeface="Hammersmith One"/>
                <a:sym typeface="Hammersmith One"/>
              </a:rPr>
              <a:t>Tujuan</a:t>
            </a:r>
          </a:p>
        </p:txBody>
      </p:sp>
      <p:sp>
        <p:nvSpPr>
          <p:cNvPr name="TextBox 23" id="23"/>
          <p:cNvSpPr txBox="true"/>
          <p:nvPr/>
        </p:nvSpPr>
        <p:spPr>
          <a:xfrm rot="0">
            <a:off x="8057242" y="3435167"/>
            <a:ext cx="11585045" cy="438785"/>
          </a:xfrm>
          <a:prstGeom prst="rect">
            <a:avLst/>
          </a:prstGeom>
        </p:spPr>
        <p:txBody>
          <a:bodyPr anchor="t" rtlCol="false" tIns="0" lIns="0" bIns="0" rIns="0">
            <a:spAutoFit/>
          </a:bodyPr>
          <a:lstStyle/>
          <a:p>
            <a:pPr algn="ctr" marL="0" indent="0" lvl="0">
              <a:lnSpc>
                <a:spcPts val="3640"/>
              </a:lnSpc>
              <a:spcBef>
                <a:spcPct val="0"/>
              </a:spcBef>
            </a:pPr>
            <a:r>
              <a:rPr lang="en-US" sz="2600" spc="169">
                <a:solidFill>
                  <a:srgbClr val="FFFFFF"/>
                </a:solidFill>
                <a:latin typeface="Hammersmith One"/>
                <a:ea typeface="Hammersmith One"/>
                <a:cs typeface="Hammersmith One"/>
                <a:sym typeface="Hammersmith One"/>
              </a:rPr>
              <a:t>Key Performance Indikator </a:t>
            </a:r>
          </a:p>
        </p:txBody>
      </p:sp>
      <p:sp>
        <p:nvSpPr>
          <p:cNvPr name="TextBox 24" id="24"/>
          <p:cNvSpPr txBox="true"/>
          <p:nvPr/>
        </p:nvSpPr>
        <p:spPr>
          <a:xfrm rot="0">
            <a:off x="10734898" y="3964242"/>
            <a:ext cx="5672148" cy="3125898"/>
          </a:xfrm>
          <a:prstGeom prst="rect">
            <a:avLst/>
          </a:prstGeom>
        </p:spPr>
        <p:txBody>
          <a:bodyPr anchor="t" rtlCol="false" tIns="0" lIns="0" bIns="0" rIns="0">
            <a:spAutoFit/>
          </a:bodyPr>
          <a:lstStyle/>
          <a:p>
            <a:pPr algn="just" marL="390383" indent="-195192" lvl="1">
              <a:lnSpc>
                <a:spcPts val="2531"/>
              </a:lnSpc>
              <a:buFont typeface="Arial"/>
              <a:buChar char="•"/>
            </a:pPr>
            <a:r>
              <a:rPr lang="en-US" sz="1808" spc="117">
                <a:solidFill>
                  <a:srgbClr val="FFFFFF"/>
                </a:solidFill>
                <a:latin typeface="Hammersmith One"/>
                <a:ea typeface="Hammersmith One"/>
                <a:cs typeface="Hammersmith One"/>
                <a:sym typeface="Hammersmith One"/>
              </a:rPr>
              <a:t>Jumlah dan jenis koleksi tanaman per tahun.</a:t>
            </a:r>
          </a:p>
          <a:p>
            <a:pPr algn="just" marL="390383" indent="-195192" lvl="1">
              <a:lnSpc>
                <a:spcPts val="2531"/>
              </a:lnSpc>
              <a:buFont typeface="Arial"/>
              <a:buChar char="•"/>
            </a:pPr>
            <a:r>
              <a:rPr lang="en-US" sz="1808" spc="117">
                <a:solidFill>
                  <a:srgbClr val="FFFFFF"/>
                </a:solidFill>
                <a:latin typeface="Hammersmith One"/>
                <a:ea typeface="Hammersmith One"/>
                <a:cs typeface="Hammersmith One"/>
                <a:sym typeface="Hammersmith One"/>
              </a:rPr>
              <a:t>Tren pertumbuhan tanaman (spesies dan jumlah koleksi).</a:t>
            </a:r>
          </a:p>
          <a:p>
            <a:pPr algn="just" marL="390383" indent="-195192" lvl="1">
              <a:lnSpc>
                <a:spcPts val="2531"/>
              </a:lnSpc>
              <a:buFont typeface="Arial"/>
              <a:buChar char="•"/>
            </a:pPr>
            <a:r>
              <a:rPr lang="en-US" sz="1808" spc="117">
                <a:solidFill>
                  <a:srgbClr val="FFFFFF"/>
                </a:solidFill>
                <a:latin typeface="Hammersmith One"/>
                <a:ea typeface="Hammersmith One"/>
                <a:cs typeface="Hammersmith One"/>
                <a:sym typeface="Hammersmith One"/>
              </a:rPr>
              <a:t>Statistik kunjungan harian/bulanan/tahunan.</a:t>
            </a:r>
          </a:p>
          <a:p>
            <a:pPr algn="just" marL="390383" indent="-195192" lvl="1">
              <a:lnSpc>
                <a:spcPts val="2531"/>
              </a:lnSpc>
              <a:buFont typeface="Arial"/>
              <a:buChar char="•"/>
            </a:pPr>
            <a:r>
              <a:rPr lang="en-US" sz="1808" spc="117">
                <a:solidFill>
                  <a:srgbClr val="FFFFFF"/>
                </a:solidFill>
                <a:latin typeface="Hammersmith One"/>
                <a:ea typeface="Hammersmith One"/>
                <a:cs typeface="Hammersmith One"/>
                <a:sym typeface="Hammersmith One"/>
              </a:rPr>
              <a:t>Rating dan ulasan fasilitas.</a:t>
            </a:r>
          </a:p>
          <a:p>
            <a:pPr algn="just" marL="390383" indent="-195192" lvl="1">
              <a:lnSpc>
                <a:spcPts val="2531"/>
              </a:lnSpc>
              <a:buFont typeface="Arial"/>
              <a:buChar char="•"/>
            </a:pPr>
            <a:r>
              <a:rPr lang="en-US" sz="1808" spc="117">
                <a:solidFill>
                  <a:srgbClr val="FFFFFF"/>
                </a:solidFill>
                <a:latin typeface="Hammersmith One"/>
                <a:ea typeface="Hammersmith One"/>
                <a:cs typeface="Hammersmith One"/>
                <a:sym typeface="Hammersmith One"/>
              </a:rPr>
              <a:t>Evaluasi kontribusi penelitian dan program edukasi.</a:t>
            </a:r>
          </a:p>
          <a:p>
            <a:pPr algn="just" marL="0" indent="0" lvl="0">
              <a:lnSpc>
                <a:spcPts val="253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322659">
            <a:off x="-614666" y="5810005"/>
            <a:ext cx="3227562" cy="5102865"/>
          </a:xfrm>
          <a:custGeom>
            <a:avLst/>
            <a:gdLst/>
            <a:ahLst/>
            <a:cxnLst/>
            <a:rect r="r" b="b" t="t" l="l"/>
            <a:pathLst>
              <a:path h="5102865" w="3227562">
                <a:moveTo>
                  <a:pt x="3227562" y="0"/>
                </a:moveTo>
                <a:lnTo>
                  <a:pt x="0" y="0"/>
                </a:lnTo>
                <a:lnTo>
                  <a:pt x="0" y="5102865"/>
                </a:lnTo>
                <a:lnTo>
                  <a:pt x="3227562" y="5102865"/>
                </a:lnTo>
                <a:lnTo>
                  <a:pt x="3227562" y="0"/>
                </a:lnTo>
                <a:close/>
              </a:path>
            </a:pathLst>
          </a:custGeom>
          <a:blipFill>
            <a:blip r:embed="rId8"/>
            <a:stretch>
              <a:fillRect l="0" t="0" r="0" b="0"/>
            </a:stretch>
          </a:blipFill>
        </p:spPr>
      </p:sp>
      <p:sp>
        <p:nvSpPr>
          <p:cNvPr name="Freeform 9" id="9"/>
          <p:cNvSpPr/>
          <p:nvPr/>
        </p:nvSpPr>
        <p:spPr>
          <a:xfrm flipH="false" flipV="true" rot="3322659">
            <a:off x="15782135" y="-638694"/>
            <a:ext cx="3158999" cy="4994465"/>
          </a:xfrm>
          <a:custGeom>
            <a:avLst/>
            <a:gdLst/>
            <a:ahLst/>
            <a:cxnLst/>
            <a:rect r="r" b="b" t="t" l="l"/>
            <a:pathLst>
              <a:path h="4994465" w="3158999">
                <a:moveTo>
                  <a:pt x="0" y="4994465"/>
                </a:moveTo>
                <a:lnTo>
                  <a:pt x="3158999" y="4994465"/>
                </a:lnTo>
                <a:lnTo>
                  <a:pt x="3158999" y="0"/>
                </a:lnTo>
                <a:lnTo>
                  <a:pt x="0" y="0"/>
                </a:lnTo>
                <a:lnTo>
                  <a:pt x="0" y="4994465"/>
                </a:lnTo>
                <a:close/>
              </a:path>
            </a:pathLst>
          </a:custGeom>
          <a:blipFill>
            <a:blip r:embed="rId8"/>
            <a:stretch>
              <a:fillRect l="0" t="0" r="0" b="0"/>
            </a:stretch>
          </a:blipFill>
        </p:spPr>
      </p:sp>
      <p:sp>
        <p:nvSpPr>
          <p:cNvPr name="Freeform 10" id="10"/>
          <p:cNvSpPr/>
          <p:nvPr/>
        </p:nvSpPr>
        <p:spPr>
          <a:xfrm flipH="false" flipV="false" rot="532512">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true" rot="-1562210">
            <a:off x="347231" y="-908571"/>
            <a:ext cx="2480234" cy="2155548"/>
          </a:xfrm>
          <a:custGeom>
            <a:avLst/>
            <a:gdLst/>
            <a:ahLst/>
            <a:cxnLst/>
            <a:rect r="r" b="b" t="t" l="l"/>
            <a:pathLst>
              <a:path h="2155548" w="2480234">
                <a:moveTo>
                  <a:pt x="2480234" y="2155548"/>
                </a:moveTo>
                <a:lnTo>
                  <a:pt x="0" y="2155548"/>
                </a:lnTo>
                <a:lnTo>
                  <a:pt x="0" y="0"/>
                </a:lnTo>
                <a:lnTo>
                  <a:pt x="2480234" y="0"/>
                </a:lnTo>
                <a:lnTo>
                  <a:pt x="2480234" y="2155548"/>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true" flipV="true" rot="9198367">
            <a:off x="15726412" y="9085053"/>
            <a:ext cx="2480234" cy="2155548"/>
          </a:xfrm>
          <a:custGeom>
            <a:avLst/>
            <a:gdLst/>
            <a:ahLst/>
            <a:cxnLst/>
            <a:rect r="r" b="b" t="t" l="l"/>
            <a:pathLst>
              <a:path h="2155548" w="2480234">
                <a:moveTo>
                  <a:pt x="2480233" y="2155549"/>
                </a:moveTo>
                <a:lnTo>
                  <a:pt x="0" y="2155549"/>
                </a:lnTo>
                <a:lnTo>
                  <a:pt x="0" y="0"/>
                </a:lnTo>
                <a:lnTo>
                  <a:pt x="2480233" y="0"/>
                </a:lnTo>
                <a:lnTo>
                  <a:pt x="2480233" y="2155549"/>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grpSp>
        <p:nvGrpSpPr>
          <p:cNvPr name="Group 14" id="14"/>
          <p:cNvGrpSpPr/>
          <p:nvPr/>
        </p:nvGrpSpPr>
        <p:grpSpPr>
          <a:xfrm rot="0">
            <a:off x="8436266" y="2667235"/>
            <a:ext cx="9324337" cy="7226060"/>
            <a:chOff x="0" y="0"/>
            <a:chExt cx="2455793" cy="1903160"/>
          </a:xfrm>
        </p:grpSpPr>
        <p:sp>
          <p:nvSpPr>
            <p:cNvPr name="Freeform 15" id="15"/>
            <p:cNvSpPr/>
            <p:nvPr/>
          </p:nvSpPr>
          <p:spPr>
            <a:xfrm flipH="false" flipV="false" rot="0">
              <a:off x="0" y="0"/>
              <a:ext cx="2455793" cy="1903160"/>
            </a:xfrm>
            <a:custGeom>
              <a:avLst/>
              <a:gdLst/>
              <a:ahLst/>
              <a:cxnLst/>
              <a:rect r="r" b="b" t="t" l="l"/>
              <a:pathLst>
                <a:path h="1903160" w="2455793">
                  <a:moveTo>
                    <a:pt x="42345" y="0"/>
                  </a:moveTo>
                  <a:lnTo>
                    <a:pt x="2413448" y="0"/>
                  </a:lnTo>
                  <a:cubicBezTo>
                    <a:pt x="2424678" y="0"/>
                    <a:pt x="2435449" y="4461"/>
                    <a:pt x="2443390" y="12403"/>
                  </a:cubicBezTo>
                  <a:cubicBezTo>
                    <a:pt x="2451331" y="20344"/>
                    <a:pt x="2455793" y="31114"/>
                    <a:pt x="2455793" y="42345"/>
                  </a:cubicBezTo>
                  <a:lnTo>
                    <a:pt x="2455793" y="1860815"/>
                  </a:lnTo>
                  <a:cubicBezTo>
                    <a:pt x="2455793" y="1884201"/>
                    <a:pt x="2436834" y="1903160"/>
                    <a:pt x="2413448" y="1903160"/>
                  </a:cubicBezTo>
                  <a:lnTo>
                    <a:pt x="42345" y="1903160"/>
                  </a:lnTo>
                  <a:cubicBezTo>
                    <a:pt x="18958" y="1903160"/>
                    <a:pt x="0" y="1884201"/>
                    <a:pt x="0" y="1860815"/>
                  </a:cubicBezTo>
                  <a:lnTo>
                    <a:pt x="0" y="42345"/>
                  </a:lnTo>
                  <a:cubicBezTo>
                    <a:pt x="0" y="18958"/>
                    <a:pt x="18958" y="0"/>
                    <a:pt x="42345" y="0"/>
                  </a:cubicBezTo>
                  <a:close/>
                </a:path>
              </a:pathLst>
            </a:custGeom>
            <a:solidFill>
              <a:srgbClr val="4E5C39"/>
            </a:solidFill>
          </p:spPr>
        </p:sp>
        <p:sp>
          <p:nvSpPr>
            <p:cNvPr name="TextBox 16" id="16"/>
            <p:cNvSpPr txBox="true"/>
            <p:nvPr/>
          </p:nvSpPr>
          <p:spPr>
            <a:xfrm>
              <a:off x="0" y="-38100"/>
              <a:ext cx="2455793" cy="194126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122709" y="2351710"/>
            <a:ext cx="8056384" cy="5951654"/>
          </a:xfrm>
          <a:custGeom>
            <a:avLst/>
            <a:gdLst/>
            <a:ahLst/>
            <a:cxnLst/>
            <a:rect r="r" b="b" t="t" l="l"/>
            <a:pathLst>
              <a:path h="5951654" w="8056384">
                <a:moveTo>
                  <a:pt x="0" y="0"/>
                </a:moveTo>
                <a:lnTo>
                  <a:pt x="8056384" y="0"/>
                </a:lnTo>
                <a:lnTo>
                  <a:pt x="8056384" y="5951653"/>
                </a:lnTo>
                <a:lnTo>
                  <a:pt x="0" y="5951653"/>
                </a:lnTo>
                <a:lnTo>
                  <a:pt x="0" y="0"/>
                </a:lnTo>
                <a:close/>
              </a:path>
            </a:pathLst>
          </a:custGeom>
          <a:blipFill>
            <a:blip r:embed="rId13"/>
            <a:stretch>
              <a:fillRect l="0" t="0" r="0" b="0"/>
            </a:stretch>
          </a:blipFill>
        </p:spPr>
      </p:sp>
      <p:sp>
        <p:nvSpPr>
          <p:cNvPr name="TextBox 18" id="18"/>
          <p:cNvSpPr txBox="true"/>
          <p:nvPr/>
        </p:nvSpPr>
        <p:spPr>
          <a:xfrm rot="0">
            <a:off x="4015620" y="262815"/>
            <a:ext cx="10098005" cy="1749425"/>
          </a:xfrm>
          <a:prstGeom prst="rect">
            <a:avLst/>
          </a:prstGeom>
        </p:spPr>
        <p:txBody>
          <a:bodyPr anchor="t" rtlCol="false" tIns="0" lIns="0" bIns="0" rIns="0">
            <a:spAutoFit/>
          </a:bodyPr>
          <a:lstStyle/>
          <a:p>
            <a:pPr algn="ctr">
              <a:lnSpc>
                <a:spcPts val="7000"/>
              </a:lnSpc>
            </a:pPr>
            <a:r>
              <a:rPr lang="en-US" sz="5000" spc="610">
                <a:solidFill>
                  <a:srgbClr val="FFFFFF"/>
                </a:solidFill>
                <a:latin typeface="Gliker"/>
                <a:ea typeface="Gliker"/>
                <a:cs typeface="Gliker"/>
                <a:sym typeface="Gliker"/>
              </a:rPr>
              <a:t>DESAIN DIMENSIONAL</a:t>
            </a:r>
          </a:p>
          <a:p>
            <a:pPr algn="ctr" marL="0" indent="0" lvl="0">
              <a:lnSpc>
                <a:spcPts val="7000"/>
              </a:lnSpc>
              <a:spcBef>
                <a:spcPct val="0"/>
              </a:spcBef>
            </a:pPr>
            <a:r>
              <a:rPr lang="en-US" sz="5000" spc="610">
                <a:solidFill>
                  <a:srgbClr val="FFFFFF"/>
                </a:solidFill>
                <a:latin typeface="Gliker"/>
                <a:ea typeface="Gliker"/>
                <a:cs typeface="Gliker"/>
                <a:sym typeface="Gliker"/>
              </a:rPr>
              <a:t>(STAR SCHEMA)</a:t>
            </a:r>
          </a:p>
        </p:txBody>
      </p:sp>
      <p:sp>
        <p:nvSpPr>
          <p:cNvPr name="TextBox 19" id="19"/>
          <p:cNvSpPr txBox="true"/>
          <p:nvPr/>
        </p:nvSpPr>
        <p:spPr>
          <a:xfrm rot="0">
            <a:off x="8944228" y="3078134"/>
            <a:ext cx="8343382" cy="1314024"/>
          </a:xfrm>
          <a:prstGeom prst="rect">
            <a:avLst/>
          </a:prstGeom>
        </p:spPr>
        <p:txBody>
          <a:bodyPr anchor="t" rtlCol="false" tIns="0" lIns="0" bIns="0" rIns="0">
            <a:spAutoFit/>
          </a:bodyPr>
          <a:lstStyle/>
          <a:p>
            <a:pPr algn="just">
              <a:lnSpc>
                <a:spcPts val="2648"/>
              </a:lnSpc>
            </a:pPr>
            <a:r>
              <a:rPr lang="en-US" sz="1891" spc="122">
                <a:solidFill>
                  <a:srgbClr val="FFFFFF"/>
                </a:solidFill>
                <a:latin typeface="Hammersmith One"/>
                <a:ea typeface="Hammersmith One"/>
                <a:cs typeface="Hammersmith One"/>
                <a:sym typeface="Hammersmith One"/>
              </a:rPr>
              <a:t>Metodologi:</a:t>
            </a:r>
          </a:p>
          <a:p>
            <a:pPr algn="just">
              <a:lnSpc>
                <a:spcPts val="2648"/>
              </a:lnSpc>
              <a:spcBef>
                <a:spcPct val="0"/>
              </a:spcBef>
            </a:pPr>
            <a:r>
              <a:rPr lang="en-US" sz="1891" spc="122">
                <a:solidFill>
                  <a:srgbClr val="FFFFFF"/>
                </a:solidFill>
                <a:latin typeface="Hammersmith One"/>
                <a:ea typeface="Hammersmith One"/>
                <a:cs typeface="Hammersmith One"/>
                <a:sym typeface="Hammersmith One"/>
              </a:rPr>
              <a:t>Pengembangan ini mengikuti pendekatan Kimball (Dimensional Modeling) dengan strategi Bottom-Up yang sesuai dengan kebutuhan analisis domain tertentu.</a:t>
            </a:r>
          </a:p>
        </p:txBody>
      </p:sp>
      <p:sp>
        <p:nvSpPr>
          <p:cNvPr name="TextBox 20" id="20"/>
          <p:cNvSpPr txBox="true"/>
          <p:nvPr/>
        </p:nvSpPr>
        <p:spPr>
          <a:xfrm rot="0">
            <a:off x="8915918" y="4673669"/>
            <a:ext cx="8343382" cy="2879158"/>
          </a:xfrm>
          <a:prstGeom prst="rect">
            <a:avLst/>
          </a:prstGeom>
        </p:spPr>
        <p:txBody>
          <a:bodyPr anchor="t" rtlCol="false" tIns="0" lIns="0" bIns="0" rIns="0">
            <a:spAutoFit/>
          </a:bodyPr>
          <a:lstStyle/>
          <a:p>
            <a:pPr algn="just">
              <a:lnSpc>
                <a:spcPts val="2411"/>
              </a:lnSpc>
            </a:pPr>
            <a:r>
              <a:rPr lang="en-US" sz="1722" spc="111">
                <a:solidFill>
                  <a:srgbClr val="FFFFFF"/>
                </a:solidFill>
                <a:latin typeface="Hammersmith One"/>
                <a:ea typeface="Hammersmith One"/>
                <a:cs typeface="Hammersmith One"/>
                <a:sym typeface="Hammersmith One"/>
              </a:rPr>
              <a:t>Fact_Table:</a:t>
            </a:r>
          </a:p>
          <a:p>
            <a:pPr algn="just">
              <a:lnSpc>
                <a:spcPts val="2551"/>
              </a:lnSpc>
              <a:spcBef>
                <a:spcPct val="0"/>
              </a:spcBef>
            </a:pPr>
            <a:r>
              <a:rPr lang="en-US" sz="1822" spc="118">
                <a:solidFill>
                  <a:srgbClr val="FFFFFF"/>
                </a:solidFill>
                <a:latin typeface="Hammersmith One"/>
                <a:ea typeface="Hammersmith One"/>
                <a:cs typeface="Hammersmith One"/>
                <a:sym typeface="Hammersmith One"/>
              </a:rPr>
              <a:t>Fact_Kunjungan menyimpan data aktivitas kunjungan seperti id_kunjungan, id_pengunjung, id_fasilitas, tanggal, tujuan, dan jumlah_pengunjung yang menjadi metrik utama untuk analisis intensitas kunjungan. Fact_Tanaman menyimpan informasi aktivitas pengelolaan tanaman seperti id_tanaman, id_species, waktu_tanam, status_konservasi, dan kuantitas sehingga dapat digunakan untuk menilai perkembangan, konservasi, dan sebaran tanaman di area kebun atau taman.</a:t>
            </a:r>
          </a:p>
        </p:txBody>
      </p:sp>
      <p:sp>
        <p:nvSpPr>
          <p:cNvPr name="TextBox 21" id="21"/>
          <p:cNvSpPr txBox="true"/>
          <p:nvPr/>
        </p:nvSpPr>
        <p:spPr>
          <a:xfrm rot="0">
            <a:off x="8944228" y="7944276"/>
            <a:ext cx="8343382" cy="1980774"/>
          </a:xfrm>
          <a:prstGeom prst="rect">
            <a:avLst/>
          </a:prstGeom>
        </p:spPr>
        <p:txBody>
          <a:bodyPr anchor="t" rtlCol="false" tIns="0" lIns="0" bIns="0" rIns="0">
            <a:spAutoFit/>
          </a:bodyPr>
          <a:lstStyle/>
          <a:p>
            <a:pPr algn="just">
              <a:lnSpc>
                <a:spcPts val="2648"/>
              </a:lnSpc>
            </a:pPr>
            <a:r>
              <a:rPr lang="en-US" sz="1891" spc="122">
                <a:solidFill>
                  <a:srgbClr val="FFFFFF"/>
                </a:solidFill>
                <a:latin typeface="Hammersmith One"/>
                <a:ea typeface="Hammersmith One"/>
                <a:cs typeface="Hammersmith One"/>
                <a:sym typeface="Hammersmith One"/>
              </a:rPr>
              <a:t>Dimensions:</a:t>
            </a:r>
          </a:p>
          <a:p>
            <a:pPr algn="just">
              <a:lnSpc>
                <a:spcPts val="2648"/>
              </a:lnSpc>
            </a:pPr>
            <a:r>
              <a:rPr lang="en-US" sz="1891" spc="122">
                <a:solidFill>
                  <a:srgbClr val="FFFFFF"/>
                </a:solidFill>
                <a:latin typeface="Hammersmith One"/>
                <a:ea typeface="Hammersmith One"/>
                <a:cs typeface="Hammersmith One"/>
                <a:sym typeface="Hammersmith One"/>
              </a:rPr>
              <a:t>• Tanaman</a:t>
            </a:r>
          </a:p>
          <a:p>
            <a:pPr algn="just">
              <a:lnSpc>
                <a:spcPts val="2648"/>
              </a:lnSpc>
            </a:pPr>
            <a:r>
              <a:rPr lang="en-US" sz="1891" spc="122">
                <a:solidFill>
                  <a:srgbClr val="FFFFFF"/>
                </a:solidFill>
                <a:latin typeface="Hammersmith One"/>
                <a:ea typeface="Hammersmith One"/>
                <a:cs typeface="Hammersmith One"/>
                <a:sym typeface="Hammersmith One"/>
              </a:rPr>
              <a:t>• Spesies</a:t>
            </a:r>
          </a:p>
          <a:p>
            <a:pPr algn="just">
              <a:lnSpc>
                <a:spcPts val="2648"/>
              </a:lnSpc>
            </a:pPr>
            <a:r>
              <a:rPr lang="en-US" sz="1891" spc="122">
                <a:solidFill>
                  <a:srgbClr val="FFFFFF"/>
                </a:solidFill>
                <a:latin typeface="Hammersmith One"/>
                <a:ea typeface="Hammersmith One"/>
                <a:cs typeface="Hammersmith One"/>
                <a:sym typeface="Hammersmith One"/>
              </a:rPr>
              <a:t>• Fasilitas</a:t>
            </a:r>
          </a:p>
          <a:p>
            <a:pPr algn="just">
              <a:lnSpc>
                <a:spcPts val="2648"/>
              </a:lnSpc>
            </a:pPr>
            <a:r>
              <a:rPr lang="en-US" sz="1891" spc="122">
                <a:solidFill>
                  <a:srgbClr val="FFFFFF"/>
                </a:solidFill>
                <a:latin typeface="Hammersmith One"/>
                <a:ea typeface="Hammersmith One"/>
                <a:cs typeface="Hammersmith One"/>
                <a:sym typeface="Hammersmith One"/>
              </a:rPr>
              <a:t>• Pengunjung</a:t>
            </a:r>
          </a:p>
          <a:p>
            <a:pPr algn="just">
              <a:lnSpc>
                <a:spcPts val="2648"/>
              </a:lnSpc>
              <a:spcBef>
                <a:spcPct val="0"/>
              </a:spcBef>
            </a:pPr>
          </a:p>
        </p:txBody>
      </p:sp>
      <p:sp>
        <p:nvSpPr>
          <p:cNvPr name="TextBox 22" id="22"/>
          <p:cNvSpPr txBox="true"/>
          <p:nvPr/>
        </p:nvSpPr>
        <p:spPr>
          <a:xfrm rot="0">
            <a:off x="11202732" y="8289256"/>
            <a:ext cx="8343382" cy="647274"/>
          </a:xfrm>
          <a:prstGeom prst="rect">
            <a:avLst/>
          </a:prstGeom>
        </p:spPr>
        <p:txBody>
          <a:bodyPr anchor="t" rtlCol="false" tIns="0" lIns="0" bIns="0" rIns="0">
            <a:spAutoFit/>
          </a:bodyPr>
          <a:lstStyle/>
          <a:p>
            <a:pPr algn="just">
              <a:lnSpc>
                <a:spcPts val="2648"/>
              </a:lnSpc>
            </a:pPr>
            <a:r>
              <a:rPr lang="en-US" sz="1891" spc="122">
                <a:solidFill>
                  <a:srgbClr val="FFFFFF"/>
                </a:solidFill>
                <a:latin typeface="Hammersmith One"/>
                <a:ea typeface="Hammersmith One"/>
                <a:cs typeface="Hammersmith One"/>
                <a:sym typeface="Hammersmith One"/>
              </a:rPr>
              <a:t>• Waktu</a:t>
            </a:r>
          </a:p>
          <a:p>
            <a:pPr algn="just">
              <a:lnSpc>
                <a:spcPts val="2648"/>
              </a:lnSpc>
              <a:spcBef>
                <a:spcPct val="0"/>
              </a:spcBef>
            </a:pPr>
            <a:r>
              <a:rPr lang="en-US" sz="1891" spc="122">
                <a:solidFill>
                  <a:srgbClr val="FFFFFF"/>
                </a:solidFill>
                <a:latin typeface="Hammersmith One"/>
                <a:ea typeface="Hammersmith One"/>
                <a:cs typeface="Hammersmith One"/>
                <a:sym typeface="Hammersmith One"/>
              </a:rPr>
              <a:t>• Ulasan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244574" y="2900537"/>
            <a:ext cx="15721954" cy="6357763"/>
            <a:chOff x="0" y="0"/>
            <a:chExt cx="4140762" cy="1674473"/>
          </a:xfrm>
        </p:grpSpPr>
        <p:sp>
          <p:nvSpPr>
            <p:cNvPr name="Freeform 5" id="5"/>
            <p:cNvSpPr/>
            <p:nvPr/>
          </p:nvSpPr>
          <p:spPr>
            <a:xfrm flipH="false" flipV="false" rot="0">
              <a:off x="0" y="0"/>
              <a:ext cx="4140762" cy="1674473"/>
            </a:xfrm>
            <a:custGeom>
              <a:avLst/>
              <a:gdLst/>
              <a:ahLst/>
              <a:cxnLst/>
              <a:rect r="r" b="b" t="t" l="l"/>
              <a:pathLst>
                <a:path h="1674473" w="4140762">
                  <a:moveTo>
                    <a:pt x="49243" y="0"/>
                  </a:moveTo>
                  <a:lnTo>
                    <a:pt x="4091519" y="0"/>
                  </a:lnTo>
                  <a:cubicBezTo>
                    <a:pt x="4118715" y="0"/>
                    <a:pt x="4140762" y="22047"/>
                    <a:pt x="4140762" y="49243"/>
                  </a:cubicBezTo>
                  <a:lnTo>
                    <a:pt x="4140762" y="1625230"/>
                  </a:lnTo>
                  <a:cubicBezTo>
                    <a:pt x="4140762" y="1652426"/>
                    <a:pt x="4118715" y="1674473"/>
                    <a:pt x="4091519" y="1674473"/>
                  </a:cubicBezTo>
                  <a:lnTo>
                    <a:pt x="49243" y="1674473"/>
                  </a:lnTo>
                  <a:cubicBezTo>
                    <a:pt x="22047" y="1674473"/>
                    <a:pt x="0" y="1652426"/>
                    <a:pt x="0" y="1625230"/>
                  </a:cubicBezTo>
                  <a:lnTo>
                    <a:pt x="0" y="49243"/>
                  </a:lnTo>
                  <a:cubicBezTo>
                    <a:pt x="0" y="22047"/>
                    <a:pt x="22047" y="0"/>
                    <a:pt x="49243" y="0"/>
                  </a:cubicBezTo>
                  <a:close/>
                </a:path>
              </a:pathLst>
            </a:custGeom>
            <a:solidFill>
              <a:srgbClr val="4E5C39"/>
            </a:solidFill>
          </p:spPr>
        </p:sp>
        <p:sp>
          <p:nvSpPr>
            <p:cNvPr name="TextBox 6" id="6"/>
            <p:cNvSpPr txBox="true"/>
            <p:nvPr/>
          </p:nvSpPr>
          <p:spPr>
            <a:xfrm>
              <a:off x="0" y="-38100"/>
              <a:ext cx="4140762" cy="1712573"/>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1015729">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7249685">
            <a:off x="87291" y="-441598"/>
            <a:ext cx="2655759" cy="4198828"/>
          </a:xfrm>
          <a:custGeom>
            <a:avLst/>
            <a:gdLst/>
            <a:ahLst/>
            <a:cxnLst/>
            <a:rect r="r" b="b" t="t" l="l"/>
            <a:pathLst>
              <a:path h="4198828" w="2655759">
                <a:moveTo>
                  <a:pt x="0" y="0"/>
                </a:moveTo>
                <a:lnTo>
                  <a:pt x="2655759" y="0"/>
                </a:lnTo>
                <a:lnTo>
                  <a:pt x="2655759" y="4198828"/>
                </a:lnTo>
                <a:lnTo>
                  <a:pt x="0" y="4198828"/>
                </a:lnTo>
                <a:lnTo>
                  <a:pt x="0" y="0"/>
                </a:lnTo>
                <a:close/>
              </a:path>
            </a:pathLst>
          </a:custGeom>
          <a:blipFill>
            <a:blip r:embed="rId10"/>
            <a:stretch>
              <a:fillRect l="0" t="0" r="0" b="0"/>
            </a:stretch>
          </a:blipFill>
        </p:spPr>
      </p:sp>
      <p:sp>
        <p:nvSpPr>
          <p:cNvPr name="Freeform 13" id="13"/>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3467074">
            <a:off x="15475363" y="6543419"/>
            <a:ext cx="2655759" cy="4198828"/>
          </a:xfrm>
          <a:custGeom>
            <a:avLst/>
            <a:gdLst/>
            <a:ahLst/>
            <a:cxnLst/>
            <a:rect r="r" b="b" t="t" l="l"/>
            <a:pathLst>
              <a:path h="4198828" w="2655759">
                <a:moveTo>
                  <a:pt x="0" y="0"/>
                </a:moveTo>
                <a:lnTo>
                  <a:pt x="2655759" y="0"/>
                </a:lnTo>
                <a:lnTo>
                  <a:pt x="2655759" y="4198829"/>
                </a:lnTo>
                <a:lnTo>
                  <a:pt x="0" y="4198829"/>
                </a:lnTo>
                <a:lnTo>
                  <a:pt x="0" y="0"/>
                </a:lnTo>
                <a:close/>
              </a:path>
            </a:pathLst>
          </a:custGeom>
          <a:blipFill>
            <a:blip r:embed="rId10"/>
            <a:stretch>
              <a:fillRect l="0" t="0" r="0" b="0"/>
            </a:stretch>
          </a:blipFill>
        </p:spPr>
      </p:sp>
      <p:sp>
        <p:nvSpPr>
          <p:cNvPr name="Freeform 15" id="15"/>
          <p:cNvSpPr/>
          <p:nvPr/>
        </p:nvSpPr>
        <p:spPr>
          <a:xfrm flipH="true" flipV="true" rot="-8620296">
            <a:off x="-724011" y="8772505"/>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8620296">
            <a:off x="16795993" y="-440805"/>
            <a:ext cx="2147263" cy="1866166"/>
          </a:xfrm>
          <a:custGeom>
            <a:avLst/>
            <a:gdLst/>
            <a:ahLst/>
            <a:cxnLst/>
            <a:rect r="r" b="b" t="t" l="l"/>
            <a:pathLst>
              <a:path h="1866166" w="2147263">
                <a:moveTo>
                  <a:pt x="0" y="0"/>
                </a:moveTo>
                <a:lnTo>
                  <a:pt x="2147263" y="0"/>
                </a:lnTo>
                <a:lnTo>
                  <a:pt x="2147263" y="1866167"/>
                </a:lnTo>
                <a:lnTo>
                  <a:pt x="0" y="18661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7" id="17"/>
          <p:cNvSpPr txBox="true"/>
          <p:nvPr/>
        </p:nvSpPr>
        <p:spPr>
          <a:xfrm rot="0">
            <a:off x="4270028" y="1257315"/>
            <a:ext cx="9747945" cy="863600"/>
          </a:xfrm>
          <a:prstGeom prst="rect">
            <a:avLst/>
          </a:prstGeom>
        </p:spPr>
        <p:txBody>
          <a:bodyPr anchor="t" rtlCol="false" tIns="0" lIns="0" bIns="0" rIns="0">
            <a:spAutoFit/>
          </a:bodyPr>
          <a:lstStyle/>
          <a:p>
            <a:pPr algn="ctr" marL="0" indent="0" lvl="0">
              <a:lnSpc>
                <a:spcPts val="7000"/>
              </a:lnSpc>
              <a:spcBef>
                <a:spcPct val="0"/>
              </a:spcBef>
            </a:pPr>
            <a:r>
              <a:rPr lang="en-US" sz="5000" spc="610">
                <a:solidFill>
                  <a:srgbClr val="FFFFFF"/>
                </a:solidFill>
                <a:latin typeface="Gliker"/>
                <a:ea typeface="Gliker"/>
                <a:cs typeface="Gliker"/>
                <a:sym typeface="Gliker"/>
              </a:rPr>
              <a:t>IMPLEMENTASI ETL (SSIS)</a:t>
            </a:r>
          </a:p>
        </p:txBody>
      </p:sp>
      <p:sp>
        <p:nvSpPr>
          <p:cNvPr name="TextBox 18" id="18"/>
          <p:cNvSpPr txBox="true"/>
          <p:nvPr/>
        </p:nvSpPr>
        <p:spPr>
          <a:xfrm rot="0">
            <a:off x="536389" y="3687580"/>
            <a:ext cx="4128194" cy="334644"/>
          </a:xfrm>
          <a:prstGeom prst="rect">
            <a:avLst/>
          </a:prstGeom>
        </p:spPr>
        <p:txBody>
          <a:bodyPr anchor="t" rtlCol="false" tIns="0" lIns="0" bIns="0" rIns="0">
            <a:spAutoFit/>
          </a:bodyPr>
          <a:lstStyle/>
          <a:p>
            <a:pPr algn="ctr">
              <a:lnSpc>
                <a:spcPts val="2840"/>
              </a:lnSpc>
            </a:pPr>
            <a:r>
              <a:rPr lang="en-US" sz="2000" spc="130">
                <a:solidFill>
                  <a:srgbClr val="FFFFFF"/>
                </a:solidFill>
                <a:latin typeface="Hammersmith One"/>
                <a:ea typeface="Hammersmith One"/>
                <a:cs typeface="Hammersmith One"/>
                <a:sym typeface="Hammersmith One"/>
              </a:rPr>
              <a:t>Tools: </a:t>
            </a:r>
          </a:p>
        </p:txBody>
      </p:sp>
      <p:sp>
        <p:nvSpPr>
          <p:cNvPr name="TextBox 19" id="19"/>
          <p:cNvSpPr txBox="true"/>
          <p:nvPr/>
        </p:nvSpPr>
        <p:spPr>
          <a:xfrm rot="0">
            <a:off x="2299871" y="5148471"/>
            <a:ext cx="10568463" cy="3154044"/>
          </a:xfrm>
          <a:prstGeom prst="rect">
            <a:avLst/>
          </a:prstGeom>
        </p:spPr>
        <p:txBody>
          <a:bodyPr anchor="t" rtlCol="false" tIns="0" lIns="0" bIns="0" rIns="0">
            <a:spAutoFit/>
          </a:bodyPr>
          <a:lstStyle/>
          <a:p>
            <a:pPr algn="just">
              <a:lnSpc>
                <a:spcPts val="2840"/>
              </a:lnSpc>
            </a:pPr>
            <a:r>
              <a:rPr lang="en-US" sz="2000" spc="130">
                <a:solidFill>
                  <a:srgbClr val="FFFFFF"/>
                </a:solidFill>
                <a:latin typeface="Hammersmith One"/>
                <a:ea typeface="Hammersmith One"/>
                <a:cs typeface="Hammersmith One"/>
                <a:sym typeface="Hammersmith One"/>
              </a:rPr>
              <a:t>Alur Data (Data Flow):</a:t>
            </a:r>
          </a:p>
          <a:p>
            <a:pPr algn="just" marL="431809" indent="-215904" lvl="1">
              <a:lnSpc>
                <a:spcPts val="2840"/>
              </a:lnSpc>
              <a:buFont typeface="Arial"/>
              <a:buChar char="•"/>
            </a:pPr>
            <a:r>
              <a:rPr lang="en-US" sz="2000" spc="130">
                <a:solidFill>
                  <a:srgbClr val="FFFFFF"/>
                </a:solidFill>
                <a:latin typeface="Hammersmith One"/>
                <a:ea typeface="Hammersmith One"/>
                <a:cs typeface="Hammersmith One"/>
                <a:sym typeface="Hammersmith One"/>
              </a:rPr>
              <a:t>Extract : </a:t>
            </a:r>
            <a:r>
              <a:rPr lang="en-US" sz="2000" spc="130">
                <a:solidFill>
                  <a:srgbClr val="FFFFFF"/>
                </a:solidFill>
                <a:latin typeface="Hammersmith One"/>
                <a:ea typeface="Hammersmith One"/>
                <a:cs typeface="Hammersmith One"/>
                <a:sym typeface="Hammersmith One"/>
              </a:rPr>
              <a:t>Pengambilan data dari File Sumber (CSV/Excel) dan Sistem OLTP (Fasilitas, Pengunjung, Tanaman) ke Staging Area.</a:t>
            </a:r>
          </a:p>
          <a:p>
            <a:pPr algn="just" marL="431809" indent="-215904" lvl="1">
              <a:lnSpc>
                <a:spcPts val="2840"/>
              </a:lnSpc>
              <a:buFont typeface="Arial"/>
              <a:buChar char="•"/>
            </a:pPr>
            <a:r>
              <a:rPr lang="en-US" sz="2000" spc="130">
                <a:solidFill>
                  <a:srgbClr val="FFFFFF"/>
                </a:solidFill>
                <a:latin typeface="Hammersmith One"/>
                <a:ea typeface="Hammersmith One"/>
                <a:cs typeface="Hammersmith One"/>
                <a:sym typeface="Hammersmith One"/>
              </a:rPr>
              <a:t>Transform: Pembersihan Data (nilai hilang/duplikasi, standarisasi format). Pembentukan Surrogate Keys (SK) untuk dimensi. Penerapan Slowly Changing Dimension (SCD) Type 2 pada Dimensi Kritis (Profil Pengunjung, Status Konservasi Tanaman) untuk menjaga histori. Dan melakukan Validasi (Null Check dan Referential Check).</a:t>
            </a:r>
          </a:p>
          <a:p>
            <a:pPr algn="just" marL="431809" indent="-215904" lvl="1">
              <a:lnSpc>
                <a:spcPts val="2840"/>
              </a:lnSpc>
              <a:buFont typeface="Arial"/>
              <a:buChar char="•"/>
            </a:pPr>
            <a:r>
              <a:rPr lang="en-US" sz="2000" spc="130">
                <a:solidFill>
                  <a:srgbClr val="FFFFFF"/>
                </a:solidFill>
                <a:latin typeface="Hammersmith One"/>
                <a:ea typeface="Hammersmith One"/>
                <a:cs typeface="Hammersmith One"/>
                <a:sym typeface="Hammersmith One"/>
              </a:rPr>
              <a:t>Load: Pemuatan data bersih ke Schema Produksi (dbo). </a:t>
            </a:r>
          </a:p>
        </p:txBody>
      </p:sp>
      <p:sp>
        <p:nvSpPr>
          <p:cNvPr name="TextBox 20" id="20"/>
          <p:cNvSpPr txBox="true"/>
          <p:nvPr/>
        </p:nvSpPr>
        <p:spPr>
          <a:xfrm rot="0">
            <a:off x="1934153" y="4124114"/>
            <a:ext cx="6527082" cy="687069"/>
          </a:xfrm>
          <a:prstGeom prst="rect">
            <a:avLst/>
          </a:prstGeom>
        </p:spPr>
        <p:txBody>
          <a:bodyPr anchor="t" rtlCol="false" tIns="0" lIns="0" bIns="0" rIns="0">
            <a:spAutoFit/>
          </a:bodyPr>
          <a:lstStyle/>
          <a:p>
            <a:pPr algn="just" marL="431809" indent="-215904" lvl="1">
              <a:lnSpc>
                <a:spcPts val="2840"/>
              </a:lnSpc>
              <a:buFont typeface="Arial"/>
              <a:buChar char="•"/>
            </a:pPr>
            <a:r>
              <a:rPr lang="en-US" sz="2000" spc="130">
                <a:solidFill>
                  <a:srgbClr val="FFFFFF"/>
                </a:solidFill>
                <a:latin typeface="Hammersmith One"/>
                <a:ea typeface="Hammersmith One"/>
                <a:cs typeface="Hammersmith One"/>
                <a:sym typeface="Hammersmith One"/>
              </a:rPr>
              <a:t>SQL Server Integration Services (SSIS)</a:t>
            </a:r>
          </a:p>
          <a:p>
            <a:pPr algn="just" marL="431809" indent="-215904" lvl="1">
              <a:lnSpc>
                <a:spcPts val="2840"/>
              </a:lnSpc>
              <a:buFont typeface="Arial"/>
              <a:buChar char="•"/>
            </a:pPr>
            <a:r>
              <a:rPr lang="en-US" sz="2000" spc="130">
                <a:solidFill>
                  <a:srgbClr val="FFFFFF"/>
                </a:solidFill>
                <a:latin typeface="Hammersmith One"/>
                <a:ea typeface="Hammersmith One"/>
                <a:cs typeface="Hammersmith One"/>
                <a:sym typeface="Hammersmith One"/>
              </a:rPr>
              <a:t>Power BI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grpSp>
        <p:nvGrpSpPr>
          <p:cNvPr name="Group 2" id="2"/>
          <p:cNvGrpSpPr/>
          <p:nvPr/>
        </p:nvGrpSpPr>
        <p:grpSpPr>
          <a:xfrm rot="0">
            <a:off x="827617" y="2452220"/>
            <a:ext cx="8598036" cy="7710607"/>
            <a:chOff x="0" y="0"/>
            <a:chExt cx="2264503" cy="2030777"/>
          </a:xfrm>
        </p:grpSpPr>
        <p:sp>
          <p:nvSpPr>
            <p:cNvPr name="Freeform 3" id="3"/>
            <p:cNvSpPr/>
            <p:nvPr/>
          </p:nvSpPr>
          <p:spPr>
            <a:xfrm flipH="false" flipV="false" rot="0">
              <a:off x="0" y="0"/>
              <a:ext cx="2264503" cy="2030777"/>
            </a:xfrm>
            <a:custGeom>
              <a:avLst/>
              <a:gdLst/>
              <a:ahLst/>
              <a:cxnLst/>
              <a:rect r="r" b="b" t="t" l="l"/>
              <a:pathLst>
                <a:path h="2030777" w="2264503">
                  <a:moveTo>
                    <a:pt x="45922" y="0"/>
                  </a:moveTo>
                  <a:lnTo>
                    <a:pt x="2218581" y="0"/>
                  </a:lnTo>
                  <a:cubicBezTo>
                    <a:pt x="2243943" y="0"/>
                    <a:pt x="2264503" y="20560"/>
                    <a:pt x="2264503" y="45922"/>
                  </a:cubicBezTo>
                  <a:lnTo>
                    <a:pt x="2264503" y="1984855"/>
                  </a:lnTo>
                  <a:cubicBezTo>
                    <a:pt x="2264503" y="2010217"/>
                    <a:pt x="2243943" y="2030777"/>
                    <a:pt x="2218581" y="2030777"/>
                  </a:cubicBezTo>
                  <a:lnTo>
                    <a:pt x="45922" y="2030777"/>
                  </a:lnTo>
                  <a:cubicBezTo>
                    <a:pt x="20560" y="2030777"/>
                    <a:pt x="0" y="2010217"/>
                    <a:pt x="0" y="1984855"/>
                  </a:cubicBezTo>
                  <a:lnTo>
                    <a:pt x="0" y="45922"/>
                  </a:lnTo>
                  <a:cubicBezTo>
                    <a:pt x="0" y="20560"/>
                    <a:pt x="20560" y="0"/>
                    <a:pt x="45922" y="0"/>
                  </a:cubicBezTo>
                  <a:close/>
                </a:path>
              </a:pathLst>
            </a:custGeom>
            <a:solidFill>
              <a:srgbClr val="4E5C39"/>
            </a:solidFill>
          </p:spPr>
        </p:sp>
        <p:sp>
          <p:nvSpPr>
            <p:cNvPr name="TextBox 4" id="4"/>
            <p:cNvSpPr txBox="true"/>
            <p:nvPr/>
          </p:nvSpPr>
          <p:spPr>
            <a:xfrm>
              <a:off x="0" y="-28575"/>
              <a:ext cx="2264503" cy="2059352"/>
            </a:xfrm>
            <a:prstGeom prst="rect">
              <a:avLst/>
            </a:prstGeom>
          </p:spPr>
          <p:txBody>
            <a:bodyPr anchor="ctr" rtlCol="false" tIns="50800" lIns="50800" bIns="50800" rIns="50800"/>
            <a:lstStyle/>
            <a:p>
              <a:pPr algn="ctr">
                <a:lnSpc>
                  <a:spcPts val="2648"/>
                </a:lnSpc>
              </a:pPr>
            </a:p>
          </p:txBody>
        </p:sp>
      </p:grpSp>
      <p:sp>
        <p:nvSpPr>
          <p:cNvPr name="Freeform 5" id="5"/>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9550747" y="2452220"/>
            <a:ext cx="8598036" cy="2691280"/>
            <a:chOff x="0" y="0"/>
            <a:chExt cx="2264503" cy="708814"/>
          </a:xfrm>
        </p:grpSpPr>
        <p:sp>
          <p:nvSpPr>
            <p:cNvPr name="Freeform 9" id="9"/>
            <p:cNvSpPr/>
            <p:nvPr/>
          </p:nvSpPr>
          <p:spPr>
            <a:xfrm flipH="false" flipV="false" rot="0">
              <a:off x="0" y="0"/>
              <a:ext cx="2264503" cy="708814"/>
            </a:xfrm>
            <a:custGeom>
              <a:avLst/>
              <a:gdLst/>
              <a:ahLst/>
              <a:cxnLst/>
              <a:rect r="r" b="b" t="t" l="l"/>
              <a:pathLst>
                <a:path h="708814" w="2264503">
                  <a:moveTo>
                    <a:pt x="45922" y="0"/>
                  </a:moveTo>
                  <a:lnTo>
                    <a:pt x="2218581" y="0"/>
                  </a:lnTo>
                  <a:cubicBezTo>
                    <a:pt x="2243943" y="0"/>
                    <a:pt x="2264503" y="20560"/>
                    <a:pt x="2264503" y="45922"/>
                  </a:cubicBezTo>
                  <a:lnTo>
                    <a:pt x="2264503" y="662893"/>
                  </a:lnTo>
                  <a:cubicBezTo>
                    <a:pt x="2264503" y="688255"/>
                    <a:pt x="2243943" y="708814"/>
                    <a:pt x="2218581" y="708814"/>
                  </a:cubicBezTo>
                  <a:lnTo>
                    <a:pt x="45922" y="708814"/>
                  </a:lnTo>
                  <a:cubicBezTo>
                    <a:pt x="20560" y="708814"/>
                    <a:pt x="0" y="688255"/>
                    <a:pt x="0" y="662893"/>
                  </a:cubicBezTo>
                  <a:lnTo>
                    <a:pt x="0" y="45922"/>
                  </a:lnTo>
                  <a:cubicBezTo>
                    <a:pt x="0" y="20560"/>
                    <a:pt x="20560" y="0"/>
                    <a:pt x="45922" y="0"/>
                  </a:cubicBezTo>
                  <a:close/>
                </a:path>
              </a:pathLst>
            </a:custGeom>
            <a:solidFill>
              <a:srgbClr val="4E5C39"/>
            </a:solidFill>
          </p:spPr>
        </p:sp>
        <p:sp>
          <p:nvSpPr>
            <p:cNvPr name="TextBox 10" id="10"/>
            <p:cNvSpPr txBox="true"/>
            <p:nvPr/>
          </p:nvSpPr>
          <p:spPr>
            <a:xfrm>
              <a:off x="0" y="-28575"/>
              <a:ext cx="2264503" cy="737389"/>
            </a:xfrm>
            <a:prstGeom prst="rect">
              <a:avLst/>
            </a:prstGeom>
          </p:spPr>
          <p:txBody>
            <a:bodyPr anchor="ctr" rtlCol="false" tIns="50800" lIns="50800" bIns="50800" rIns="50800"/>
            <a:lstStyle/>
            <a:p>
              <a:pPr algn="ctr">
                <a:lnSpc>
                  <a:spcPts val="2648"/>
                </a:lnSpc>
              </a:pPr>
            </a:p>
          </p:txBody>
        </p:sp>
      </p:grpSp>
      <p:sp>
        <p:nvSpPr>
          <p:cNvPr name="Freeform 11" id="11"/>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532512">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true" flipV="true" rot="-1562210">
            <a:off x="347231" y="-908571"/>
            <a:ext cx="2480234" cy="2155548"/>
          </a:xfrm>
          <a:custGeom>
            <a:avLst/>
            <a:gdLst/>
            <a:ahLst/>
            <a:cxnLst/>
            <a:rect r="r" b="b" t="t" l="l"/>
            <a:pathLst>
              <a:path h="2155548" w="2480234">
                <a:moveTo>
                  <a:pt x="2480234" y="2155548"/>
                </a:moveTo>
                <a:lnTo>
                  <a:pt x="0" y="2155548"/>
                </a:lnTo>
                <a:lnTo>
                  <a:pt x="0" y="0"/>
                </a:lnTo>
                <a:lnTo>
                  <a:pt x="2480234" y="0"/>
                </a:lnTo>
                <a:lnTo>
                  <a:pt x="2480234" y="2155548"/>
                </a:lnTo>
                <a:close/>
              </a:path>
            </a:pathLst>
          </a:custGeom>
          <a:blipFill>
            <a:blip r:embed="rId10">
              <a:alphaModFix amt="7200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true" flipV="true" rot="9198367">
            <a:off x="15726412" y="9085053"/>
            <a:ext cx="2480234" cy="2155548"/>
          </a:xfrm>
          <a:custGeom>
            <a:avLst/>
            <a:gdLst/>
            <a:ahLst/>
            <a:cxnLst/>
            <a:rect r="r" b="b" t="t" l="l"/>
            <a:pathLst>
              <a:path h="2155548" w="2480234">
                <a:moveTo>
                  <a:pt x="2480233" y="2155549"/>
                </a:moveTo>
                <a:lnTo>
                  <a:pt x="0" y="2155549"/>
                </a:lnTo>
                <a:lnTo>
                  <a:pt x="0" y="0"/>
                </a:lnTo>
                <a:lnTo>
                  <a:pt x="2480233" y="0"/>
                </a:lnTo>
                <a:lnTo>
                  <a:pt x="2480233" y="2155549"/>
                </a:lnTo>
                <a:close/>
              </a:path>
            </a:pathLst>
          </a:custGeom>
          <a:blipFill>
            <a:blip r:embed="rId10">
              <a:alphaModFix amt="7200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2701707" y="1257315"/>
            <a:ext cx="12884587" cy="863600"/>
          </a:xfrm>
          <a:prstGeom prst="rect">
            <a:avLst/>
          </a:prstGeom>
        </p:spPr>
        <p:txBody>
          <a:bodyPr anchor="t" rtlCol="false" tIns="0" lIns="0" bIns="0" rIns="0">
            <a:spAutoFit/>
          </a:bodyPr>
          <a:lstStyle/>
          <a:p>
            <a:pPr algn="ctr" marL="0" indent="0" lvl="0">
              <a:lnSpc>
                <a:spcPts val="7000"/>
              </a:lnSpc>
              <a:spcBef>
                <a:spcPct val="0"/>
              </a:spcBef>
            </a:pPr>
            <a:r>
              <a:rPr lang="en-US" sz="5000" spc="610">
                <a:solidFill>
                  <a:srgbClr val="FFFFFF"/>
                </a:solidFill>
                <a:latin typeface="Gliker"/>
                <a:ea typeface="Gliker"/>
                <a:cs typeface="Gliker"/>
                <a:sym typeface="Gliker"/>
              </a:rPr>
              <a:t> DATA QUALITY ASSURANCE (QDA) </a:t>
            </a:r>
          </a:p>
        </p:txBody>
      </p:sp>
      <p:sp>
        <p:nvSpPr>
          <p:cNvPr name="TextBox 18" id="18"/>
          <p:cNvSpPr txBox="true"/>
          <p:nvPr/>
        </p:nvSpPr>
        <p:spPr>
          <a:xfrm rot="0">
            <a:off x="1318440" y="2733853"/>
            <a:ext cx="7554960" cy="1353185"/>
          </a:xfrm>
          <a:prstGeom prst="rect">
            <a:avLst/>
          </a:prstGeom>
        </p:spPr>
        <p:txBody>
          <a:bodyPr anchor="t" rtlCol="false" tIns="0" lIns="0" bIns="0" rIns="0">
            <a:spAutoFit/>
          </a:bodyPr>
          <a:lstStyle/>
          <a:p>
            <a:pPr algn="just" marL="0" indent="0" lvl="0">
              <a:lnSpc>
                <a:spcPts val="3640"/>
              </a:lnSpc>
              <a:spcBef>
                <a:spcPct val="0"/>
              </a:spcBef>
            </a:pPr>
            <a:r>
              <a:rPr lang="en-US" sz="2600" spc="169">
                <a:solidFill>
                  <a:srgbClr val="FFFFFF"/>
                </a:solidFill>
                <a:latin typeface="Hammersmith One"/>
                <a:ea typeface="Hammersmith One"/>
                <a:cs typeface="Hammersmith One"/>
                <a:sym typeface="Hammersmith One"/>
              </a:rPr>
              <a:t>K</a:t>
            </a:r>
            <a:r>
              <a:rPr lang="en-US" sz="2600" spc="169" strike="noStrike" u="none">
                <a:solidFill>
                  <a:srgbClr val="FFFFFF"/>
                </a:solidFill>
                <a:latin typeface="Hammersmith One"/>
                <a:ea typeface="Hammersmith One"/>
                <a:cs typeface="Hammersmith One"/>
                <a:sym typeface="Hammersmith One"/>
              </a:rPr>
              <a:t>elengkapan (Completeness): Pemeriksaan terhadap nilai kosong (null values) pada kolom-kolom kritis.</a:t>
            </a:r>
          </a:p>
        </p:txBody>
      </p:sp>
      <p:sp>
        <p:nvSpPr>
          <p:cNvPr name="TextBox 19" id="19"/>
          <p:cNvSpPr txBox="true"/>
          <p:nvPr/>
        </p:nvSpPr>
        <p:spPr>
          <a:xfrm rot="0">
            <a:off x="1318440" y="4277926"/>
            <a:ext cx="7554960" cy="1353185"/>
          </a:xfrm>
          <a:prstGeom prst="rect">
            <a:avLst/>
          </a:prstGeom>
        </p:spPr>
        <p:txBody>
          <a:bodyPr anchor="t" rtlCol="false" tIns="0" lIns="0" bIns="0" rIns="0">
            <a:spAutoFit/>
          </a:bodyPr>
          <a:lstStyle/>
          <a:p>
            <a:pPr algn="just" marL="0" indent="0" lvl="0">
              <a:lnSpc>
                <a:spcPts val="3640"/>
              </a:lnSpc>
              <a:spcBef>
                <a:spcPct val="0"/>
              </a:spcBef>
            </a:pPr>
            <a:r>
              <a:rPr lang="en-US" sz="2600" spc="169">
                <a:solidFill>
                  <a:srgbClr val="FFFFFF"/>
                </a:solidFill>
                <a:latin typeface="Hammersmith One"/>
                <a:ea typeface="Hammersmith One"/>
                <a:cs typeface="Hammersmith One"/>
                <a:sym typeface="Hammersmith One"/>
              </a:rPr>
              <a:t>K</a:t>
            </a:r>
            <a:r>
              <a:rPr lang="en-US" sz="2600" spc="169" strike="noStrike" u="none">
                <a:solidFill>
                  <a:srgbClr val="FFFFFF"/>
                </a:solidFill>
                <a:latin typeface="Hammersmith One"/>
                <a:ea typeface="Hammersmith One"/>
                <a:cs typeface="Hammersmith One"/>
                <a:sym typeface="Hammersmith One"/>
              </a:rPr>
              <a:t>eunikan (Uniqueness): Deteksi duplikasi pada data pengunjung, fasilitas, spesies, serta pencatatan tanaman.</a:t>
            </a:r>
          </a:p>
        </p:txBody>
      </p:sp>
      <p:sp>
        <p:nvSpPr>
          <p:cNvPr name="TextBox 20" id="20"/>
          <p:cNvSpPr txBox="true"/>
          <p:nvPr/>
        </p:nvSpPr>
        <p:spPr>
          <a:xfrm rot="0">
            <a:off x="1318440" y="5822000"/>
            <a:ext cx="7554960" cy="4553585"/>
          </a:xfrm>
          <a:prstGeom prst="rect">
            <a:avLst/>
          </a:prstGeom>
        </p:spPr>
        <p:txBody>
          <a:bodyPr anchor="t" rtlCol="false" tIns="0" lIns="0" bIns="0" rIns="0">
            <a:spAutoFit/>
          </a:bodyPr>
          <a:lstStyle/>
          <a:p>
            <a:pPr algn="just" marL="0" indent="0" lvl="0">
              <a:lnSpc>
                <a:spcPts val="3640"/>
              </a:lnSpc>
              <a:spcBef>
                <a:spcPct val="0"/>
              </a:spcBef>
            </a:pPr>
            <a:r>
              <a:rPr lang="en-US" sz="2600" spc="169">
                <a:solidFill>
                  <a:srgbClr val="FFFFFF"/>
                </a:solidFill>
                <a:latin typeface="Hammersmith One"/>
                <a:ea typeface="Hammersmith One"/>
                <a:cs typeface="Hammersmith One"/>
                <a:sym typeface="Hammersmith One"/>
              </a:rPr>
              <a:t>Val</a:t>
            </a:r>
            <a:r>
              <a:rPr lang="en-US" sz="2600" spc="169" strike="noStrike" u="none">
                <a:solidFill>
                  <a:srgbClr val="FFFFFF"/>
                </a:solidFill>
                <a:latin typeface="Hammersmith One"/>
                <a:ea typeface="Hammersmith One"/>
                <a:cs typeface="Hammersmith One"/>
                <a:sym typeface="Hammersmith One"/>
              </a:rPr>
              <a:t>iditas (Validity):</a:t>
            </a:r>
          </a:p>
          <a:p>
            <a:pPr algn="just" marL="561341" indent="-280670" lvl="1">
              <a:lnSpc>
                <a:spcPts val="3640"/>
              </a:lnSpc>
              <a:spcBef>
                <a:spcPct val="0"/>
              </a:spcBef>
              <a:buFont typeface="Arial"/>
              <a:buChar char="•"/>
            </a:pPr>
            <a:r>
              <a:rPr lang="en-US" sz="2600" spc="169" strike="noStrike" u="none">
                <a:solidFill>
                  <a:srgbClr val="FFFFFF"/>
                </a:solidFill>
                <a:latin typeface="Hammersmith One"/>
                <a:ea typeface="Hammersmith One"/>
                <a:cs typeface="Hammersmith One"/>
                <a:sym typeface="Hammersmith One"/>
              </a:rPr>
              <a:t>Validasi tipe data dan rentang nilai untuk memastikan kolom numerik (jumlah pengunjung, kapasitas, jumlah tanaman) berada pada batas yang logis.</a:t>
            </a:r>
          </a:p>
          <a:p>
            <a:pPr algn="just" marL="561341" indent="-280670" lvl="1">
              <a:lnSpc>
                <a:spcPts val="3640"/>
              </a:lnSpc>
              <a:spcBef>
                <a:spcPct val="0"/>
              </a:spcBef>
              <a:buFont typeface="Arial"/>
              <a:buChar char="•"/>
            </a:pPr>
            <a:r>
              <a:rPr lang="en-US" sz="2600" spc="169" strike="noStrike" u="none">
                <a:solidFill>
                  <a:srgbClr val="FFFFFF"/>
                </a:solidFill>
                <a:latin typeface="Hammersmith One"/>
                <a:ea typeface="Hammersmith One"/>
                <a:cs typeface="Hammersmith One"/>
                <a:sym typeface="Hammersmith One"/>
              </a:rPr>
              <a:t>Standarisasi Format Teks (misalnya penulisan nama spesies, status konservasi, kategori pengunjung).</a:t>
            </a:r>
          </a:p>
          <a:p>
            <a:pPr algn="just" marL="0" indent="0" lvl="0">
              <a:lnSpc>
                <a:spcPts val="3640"/>
              </a:lnSpc>
              <a:spcBef>
                <a:spcPct val="0"/>
              </a:spcBef>
            </a:pPr>
          </a:p>
        </p:txBody>
      </p:sp>
      <p:sp>
        <p:nvSpPr>
          <p:cNvPr name="TextBox 21" id="21"/>
          <p:cNvSpPr txBox="true"/>
          <p:nvPr/>
        </p:nvSpPr>
        <p:spPr>
          <a:xfrm rot="0">
            <a:off x="9704340" y="2733853"/>
            <a:ext cx="7554960" cy="1810385"/>
          </a:xfrm>
          <a:prstGeom prst="rect">
            <a:avLst/>
          </a:prstGeom>
        </p:spPr>
        <p:txBody>
          <a:bodyPr anchor="t" rtlCol="false" tIns="0" lIns="0" bIns="0" rIns="0">
            <a:spAutoFit/>
          </a:bodyPr>
          <a:lstStyle/>
          <a:p>
            <a:pPr algn="just" marL="0" indent="0" lvl="0">
              <a:lnSpc>
                <a:spcPts val="3640"/>
              </a:lnSpc>
              <a:spcBef>
                <a:spcPct val="0"/>
              </a:spcBef>
            </a:pPr>
            <a:r>
              <a:rPr lang="en-US" sz="2600" spc="169">
                <a:solidFill>
                  <a:srgbClr val="FFFFFF"/>
                </a:solidFill>
                <a:latin typeface="Hammersmith One"/>
                <a:ea typeface="Hammersmith One"/>
                <a:cs typeface="Hammersmith One"/>
                <a:sym typeface="Hammersmith One"/>
              </a:rPr>
              <a:t>Int</a:t>
            </a:r>
            <a:r>
              <a:rPr lang="en-US" sz="2600" spc="169" strike="noStrike" u="none">
                <a:solidFill>
                  <a:srgbClr val="FFFFFF"/>
                </a:solidFill>
                <a:latin typeface="Hammersmith One"/>
                <a:ea typeface="Hammersmith One"/>
                <a:cs typeface="Hammersmith One"/>
                <a:sym typeface="Hammersmith One"/>
              </a:rPr>
              <a:t>egritas (Integrity): Validasi referensial untuk menjamin setiap foreign key memiliki padanan yang sah pada tabel dimensi.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1015729">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7249685">
            <a:off x="87291" y="-441598"/>
            <a:ext cx="2655759" cy="4198828"/>
          </a:xfrm>
          <a:custGeom>
            <a:avLst/>
            <a:gdLst/>
            <a:ahLst/>
            <a:cxnLst/>
            <a:rect r="r" b="b" t="t" l="l"/>
            <a:pathLst>
              <a:path h="4198828" w="2655759">
                <a:moveTo>
                  <a:pt x="0" y="0"/>
                </a:moveTo>
                <a:lnTo>
                  <a:pt x="2655759" y="0"/>
                </a:lnTo>
                <a:lnTo>
                  <a:pt x="2655759" y="4198828"/>
                </a:lnTo>
                <a:lnTo>
                  <a:pt x="0" y="4198828"/>
                </a:lnTo>
                <a:lnTo>
                  <a:pt x="0" y="0"/>
                </a:lnTo>
                <a:close/>
              </a:path>
            </a:pathLst>
          </a:custGeom>
          <a:blipFill>
            <a:blip r:embed="rId10"/>
            <a:stretch>
              <a:fillRect l="0" t="0" r="0" b="0"/>
            </a:stretch>
          </a:blipFill>
        </p:spPr>
      </p:sp>
      <p:sp>
        <p:nvSpPr>
          <p:cNvPr name="Freeform 10" id="10"/>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467074">
            <a:off x="15475363" y="6543419"/>
            <a:ext cx="2655759" cy="4198828"/>
          </a:xfrm>
          <a:custGeom>
            <a:avLst/>
            <a:gdLst/>
            <a:ahLst/>
            <a:cxnLst/>
            <a:rect r="r" b="b" t="t" l="l"/>
            <a:pathLst>
              <a:path h="4198828" w="2655759">
                <a:moveTo>
                  <a:pt x="0" y="0"/>
                </a:moveTo>
                <a:lnTo>
                  <a:pt x="2655759" y="0"/>
                </a:lnTo>
                <a:lnTo>
                  <a:pt x="2655759" y="4198829"/>
                </a:lnTo>
                <a:lnTo>
                  <a:pt x="0" y="4198829"/>
                </a:lnTo>
                <a:lnTo>
                  <a:pt x="0" y="0"/>
                </a:lnTo>
                <a:close/>
              </a:path>
            </a:pathLst>
          </a:custGeom>
          <a:blipFill>
            <a:blip r:embed="rId10"/>
            <a:stretch>
              <a:fillRect l="0" t="0" r="0" b="0"/>
            </a:stretch>
          </a:blipFill>
        </p:spPr>
      </p:sp>
      <p:sp>
        <p:nvSpPr>
          <p:cNvPr name="Freeform 12" id="12"/>
          <p:cNvSpPr/>
          <p:nvPr/>
        </p:nvSpPr>
        <p:spPr>
          <a:xfrm flipH="true" flipV="true" rot="-8620296">
            <a:off x="-724011" y="8772505"/>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8620296">
            <a:off x="16795993" y="-440805"/>
            <a:ext cx="2147263" cy="1866166"/>
          </a:xfrm>
          <a:custGeom>
            <a:avLst/>
            <a:gdLst/>
            <a:ahLst/>
            <a:cxnLst/>
            <a:rect r="r" b="b" t="t" l="l"/>
            <a:pathLst>
              <a:path h="1866166" w="2147263">
                <a:moveTo>
                  <a:pt x="0" y="0"/>
                </a:moveTo>
                <a:lnTo>
                  <a:pt x="2147263" y="0"/>
                </a:lnTo>
                <a:lnTo>
                  <a:pt x="2147263" y="1866167"/>
                </a:lnTo>
                <a:lnTo>
                  <a:pt x="0" y="186616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3157075" y="2691009"/>
            <a:ext cx="11970817" cy="6928110"/>
          </a:xfrm>
          <a:custGeom>
            <a:avLst/>
            <a:gdLst/>
            <a:ahLst/>
            <a:cxnLst/>
            <a:rect r="r" b="b" t="t" l="l"/>
            <a:pathLst>
              <a:path h="6928110" w="11970817">
                <a:moveTo>
                  <a:pt x="0" y="0"/>
                </a:moveTo>
                <a:lnTo>
                  <a:pt x="11970818" y="0"/>
                </a:lnTo>
                <a:lnTo>
                  <a:pt x="11970818" y="6928110"/>
                </a:lnTo>
                <a:lnTo>
                  <a:pt x="0" y="6928110"/>
                </a:lnTo>
                <a:lnTo>
                  <a:pt x="0" y="0"/>
                </a:lnTo>
                <a:close/>
              </a:path>
            </a:pathLst>
          </a:custGeom>
          <a:blipFill>
            <a:blip r:embed="rId13"/>
            <a:stretch>
              <a:fillRect l="0" t="0" r="0" b="0"/>
            </a:stretch>
          </a:blipFill>
        </p:spPr>
      </p:sp>
      <p:sp>
        <p:nvSpPr>
          <p:cNvPr name="TextBox 15" id="15"/>
          <p:cNvSpPr txBox="true"/>
          <p:nvPr/>
        </p:nvSpPr>
        <p:spPr>
          <a:xfrm rot="0">
            <a:off x="4479072" y="1257315"/>
            <a:ext cx="9329857" cy="863600"/>
          </a:xfrm>
          <a:prstGeom prst="rect">
            <a:avLst/>
          </a:prstGeom>
        </p:spPr>
        <p:txBody>
          <a:bodyPr anchor="t" rtlCol="false" tIns="0" lIns="0" bIns="0" rIns="0">
            <a:spAutoFit/>
          </a:bodyPr>
          <a:lstStyle/>
          <a:p>
            <a:pPr algn="ctr" marL="0" indent="0" lvl="0">
              <a:lnSpc>
                <a:spcPts val="7000"/>
              </a:lnSpc>
              <a:spcBef>
                <a:spcPct val="0"/>
              </a:spcBef>
            </a:pPr>
            <a:r>
              <a:rPr lang="en-US" sz="5000" spc="610">
                <a:solidFill>
                  <a:srgbClr val="FFFFFF"/>
                </a:solidFill>
                <a:latin typeface="Gliker"/>
                <a:ea typeface="Gliker"/>
                <a:cs typeface="Gliker"/>
                <a:sym typeface="Gliker"/>
              </a:rPr>
              <a:t>DEPLOYMENT STRATEGIS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E9"/>
        </a:solidFill>
      </p:bgPr>
    </p:bg>
    <p:spTree>
      <p:nvGrpSpPr>
        <p:cNvPr id="1" name=""/>
        <p:cNvGrpSpPr/>
        <p:nvPr/>
      </p:nvGrpSpPr>
      <p:grpSpPr>
        <a:xfrm>
          <a:off x="0" y="0"/>
          <a:ext cx="0" cy="0"/>
          <a:chOff x="0" y="0"/>
          <a:chExt cx="0" cy="0"/>
        </a:xfrm>
      </p:grpSpPr>
      <p:sp>
        <p:nvSpPr>
          <p:cNvPr name="Freeform 2" id="2"/>
          <p:cNvSpPr/>
          <p:nvPr/>
        </p:nvSpPr>
        <p:spPr>
          <a:xfrm flipH="true" flipV="true" rot="-3782332">
            <a:off x="5489367" y="9175293"/>
            <a:ext cx="2558321" cy="2223414"/>
          </a:xfrm>
          <a:custGeom>
            <a:avLst/>
            <a:gdLst/>
            <a:ahLst/>
            <a:cxnLst/>
            <a:rect r="r" b="b" t="t" l="l"/>
            <a:pathLst>
              <a:path h="2223414" w="2558321">
                <a:moveTo>
                  <a:pt x="2558322" y="2223414"/>
                </a:moveTo>
                <a:lnTo>
                  <a:pt x="0" y="2223414"/>
                </a:lnTo>
                <a:lnTo>
                  <a:pt x="0" y="0"/>
                </a:lnTo>
                <a:lnTo>
                  <a:pt x="2558322" y="0"/>
                </a:lnTo>
                <a:lnTo>
                  <a:pt x="2558322" y="222341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6878634">
            <a:off x="10418135" y="-1151484"/>
            <a:ext cx="2444853" cy="2124800"/>
          </a:xfrm>
          <a:custGeom>
            <a:avLst/>
            <a:gdLst/>
            <a:ahLst/>
            <a:cxnLst/>
            <a:rect r="r" b="b" t="t" l="l"/>
            <a:pathLst>
              <a:path h="2124800" w="2444853">
                <a:moveTo>
                  <a:pt x="2444853" y="2124800"/>
                </a:moveTo>
                <a:lnTo>
                  <a:pt x="0" y="2124800"/>
                </a:lnTo>
                <a:lnTo>
                  <a:pt x="0" y="0"/>
                </a:lnTo>
                <a:lnTo>
                  <a:pt x="2444853" y="0"/>
                </a:lnTo>
                <a:lnTo>
                  <a:pt x="2444853" y="212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3782332">
            <a:off x="-1073631" y="3553616"/>
            <a:ext cx="2147263" cy="1866166"/>
          </a:xfrm>
          <a:custGeom>
            <a:avLst/>
            <a:gdLst/>
            <a:ahLst/>
            <a:cxnLst/>
            <a:rect r="r" b="b" t="t" l="l"/>
            <a:pathLst>
              <a:path h="1866166" w="2147263">
                <a:moveTo>
                  <a:pt x="2147262" y="1866166"/>
                </a:moveTo>
                <a:lnTo>
                  <a:pt x="0" y="1866166"/>
                </a:lnTo>
                <a:lnTo>
                  <a:pt x="0" y="0"/>
                </a:lnTo>
                <a:lnTo>
                  <a:pt x="2147262" y="0"/>
                </a:lnTo>
                <a:lnTo>
                  <a:pt x="2147262" y="1866166"/>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782332">
            <a:off x="17195808" y="4995730"/>
            <a:ext cx="2011056" cy="1747791"/>
          </a:xfrm>
          <a:custGeom>
            <a:avLst/>
            <a:gdLst/>
            <a:ahLst/>
            <a:cxnLst/>
            <a:rect r="r" b="b" t="t" l="l"/>
            <a:pathLst>
              <a:path h="1747791" w="2011056">
                <a:moveTo>
                  <a:pt x="0" y="0"/>
                </a:moveTo>
                <a:lnTo>
                  <a:pt x="2011057" y="0"/>
                </a:lnTo>
                <a:lnTo>
                  <a:pt x="2011057" y="1747790"/>
                </a:lnTo>
                <a:lnTo>
                  <a:pt x="0" y="1747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2580665" y="-1119020"/>
            <a:ext cx="6262520" cy="6262520"/>
          </a:xfrm>
          <a:custGeom>
            <a:avLst/>
            <a:gdLst/>
            <a:ahLst/>
            <a:cxnLst/>
            <a:rect r="r" b="b" t="t" l="l"/>
            <a:pathLst>
              <a:path h="6262520" w="6262520">
                <a:moveTo>
                  <a:pt x="0" y="0"/>
                </a:moveTo>
                <a:lnTo>
                  <a:pt x="6262521" y="0"/>
                </a:lnTo>
                <a:lnTo>
                  <a:pt x="6262521" y="6262520"/>
                </a:lnTo>
                <a:lnTo>
                  <a:pt x="0" y="62625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true" flipV="true" rot="0">
            <a:off x="-521016" y="5186571"/>
            <a:ext cx="6262520" cy="6262520"/>
          </a:xfrm>
          <a:custGeom>
            <a:avLst/>
            <a:gdLst/>
            <a:ahLst/>
            <a:cxnLst/>
            <a:rect r="r" b="b" t="t" l="l"/>
            <a:pathLst>
              <a:path h="6262520" w="6262520">
                <a:moveTo>
                  <a:pt x="6262520" y="6262521"/>
                </a:moveTo>
                <a:lnTo>
                  <a:pt x="0" y="6262521"/>
                </a:lnTo>
                <a:lnTo>
                  <a:pt x="0" y="0"/>
                </a:lnTo>
                <a:lnTo>
                  <a:pt x="6262520" y="0"/>
                </a:lnTo>
                <a:lnTo>
                  <a:pt x="6262520" y="6262521"/>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3322659">
            <a:off x="-614666" y="5810005"/>
            <a:ext cx="3227562" cy="5102865"/>
          </a:xfrm>
          <a:custGeom>
            <a:avLst/>
            <a:gdLst/>
            <a:ahLst/>
            <a:cxnLst/>
            <a:rect r="r" b="b" t="t" l="l"/>
            <a:pathLst>
              <a:path h="5102865" w="3227562">
                <a:moveTo>
                  <a:pt x="3227562" y="0"/>
                </a:moveTo>
                <a:lnTo>
                  <a:pt x="0" y="0"/>
                </a:lnTo>
                <a:lnTo>
                  <a:pt x="0" y="5102865"/>
                </a:lnTo>
                <a:lnTo>
                  <a:pt x="3227562" y="5102865"/>
                </a:lnTo>
                <a:lnTo>
                  <a:pt x="3227562" y="0"/>
                </a:lnTo>
                <a:close/>
              </a:path>
            </a:pathLst>
          </a:custGeom>
          <a:blipFill>
            <a:blip r:embed="rId8"/>
            <a:stretch>
              <a:fillRect l="0" t="0" r="0" b="0"/>
            </a:stretch>
          </a:blipFill>
        </p:spPr>
      </p:sp>
      <p:sp>
        <p:nvSpPr>
          <p:cNvPr name="Freeform 9" id="9"/>
          <p:cNvSpPr/>
          <p:nvPr/>
        </p:nvSpPr>
        <p:spPr>
          <a:xfrm flipH="false" flipV="true" rot="3322659">
            <a:off x="15782135" y="-638694"/>
            <a:ext cx="3158999" cy="4994465"/>
          </a:xfrm>
          <a:custGeom>
            <a:avLst/>
            <a:gdLst/>
            <a:ahLst/>
            <a:cxnLst/>
            <a:rect r="r" b="b" t="t" l="l"/>
            <a:pathLst>
              <a:path h="4994465" w="3158999">
                <a:moveTo>
                  <a:pt x="0" y="4994465"/>
                </a:moveTo>
                <a:lnTo>
                  <a:pt x="3158999" y="4994465"/>
                </a:lnTo>
                <a:lnTo>
                  <a:pt x="3158999" y="0"/>
                </a:lnTo>
                <a:lnTo>
                  <a:pt x="0" y="0"/>
                </a:lnTo>
                <a:lnTo>
                  <a:pt x="0" y="4994465"/>
                </a:lnTo>
                <a:close/>
              </a:path>
            </a:pathLst>
          </a:custGeom>
          <a:blipFill>
            <a:blip r:embed="rId8"/>
            <a:stretch>
              <a:fillRect l="0" t="0" r="0" b="0"/>
            </a:stretch>
          </a:blipFill>
        </p:spPr>
      </p:sp>
      <p:sp>
        <p:nvSpPr>
          <p:cNvPr name="Freeform 10" id="10"/>
          <p:cNvSpPr/>
          <p:nvPr/>
        </p:nvSpPr>
        <p:spPr>
          <a:xfrm flipH="false" flipV="false" rot="532512">
            <a:off x="-2053719" y="-1465596"/>
            <a:ext cx="6164838" cy="4718903"/>
          </a:xfrm>
          <a:custGeom>
            <a:avLst/>
            <a:gdLst/>
            <a:ahLst/>
            <a:cxnLst/>
            <a:rect r="r" b="b" t="t" l="l"/>
            <a:pathLst>
              <a:path h="4718903" w="6164838">
                <a:moveTo>
                  <a:pt x="0" y="0"/>
                </a:moveTo>
                <a:lnTo>
                  <a:pt x="6164838" y="0"/>
                </a:lnTo>
                <a:lnTo>
                  <a:pt x="6164838" y="4718903"/>
                </a:lnTo>
                <a:lnTo>
                  <a:pt x="0" y="47189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true" flipV="true" rot="-1562210">
            <a:off x="347231" y="-908571"/>
            <a:ext cx="2480234" cy="2155548"/>
          </a:xfrm>
          <a:custGeom>
            <a:avLst/>
            <a:gdLst/>
            <a:ahLst/>
            <a:cxnLst/>
            <a:rect r="r" b="b" t="t" l="l"/>
            <a:pathLst>
              <a:path h="2155548" w="2480234">
                <a:moveTo>
                  <a:pt x="2480234" y="2155548"/>
                </a:moveTo>
                <a:lnTo>
                  <a:pt x="0" y="2155548"/>
                </a:lnTo>
                <a:lnTo>
                  <a:pt x="0" y="0"/>
                </a:lnTo>
                <a:lnTo>
                  <a:pt x="2480234" y="0"/>
                </a:lnTo>
                <a:lnTo>
                  <a:pt x="2480234" y="2155548"/>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true" flipV="true" rot="532512">
            <a:off x="14176881" y="7259668"/>
            <a:ext cx="6164838" cy="4718903"/>
          </a:xfrm>
          <a:custGeom>
            <a:avLst/>
            <a:gdLst/>
            <a:ahLst/>
            <a:cxnLst/>
            <a:rect r="r" b="b" t="t" l="l"/>
            <a:pathLst>
              <a:path h="4718903" w="6164838">
                <a:moveTo>
                  <a:pt x="6164838" y="4718903"/>
                </a:moveTo>
                <a:lnTo>
                  <a:pt x="0" y="4718903"/>
                </a:lnTo>
                <a:lnTo>
                  <a:pt x="0" y="0"/>
                </a:lnTo>
                <a:lnTo>
                  <a:pt x="6164838" y="0"/>
                </a:lnTo>
                <a:lnTo>
                  <a:pt x="6164838" y="4718903"/>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true" flipV="true" rot="9198367">
            <a:off x="15726412" y="9085053"/>
            <a:ext cx="2480234" cy="2155548"/>
          </a:xfrm>
          <a:custGeom>
            <a:avLst/>
            <a:gdLst/>
            <a:ahLst/>
            <a:cxnLst/>
            <a:rect r="r" b="b" t="t" l="l"/>
            <a:pathLst>
              <a:path h="2155548" w="2480234">
                <a:moveTo>
                  <a:pt x="2480233" y="2155549"/>
                </a:moveTo>
                <a:lnTo>
                  <a:pt x="0" y="2155549"/>
                </a:lnTo>
                <a:lnTo>
                  <a:pt x="0" y="0"/>
                </a:lnTo>
                <a:lnTo>
                  <a:pt x="2480233" y="0"/>
                </a:lnTo>
                <a:lnTo>
                  <a:pt x="2480233" y="2155549"/>
                </a:lnTo>
                <a:close/>
              </a:path>
            </a:pathLst>
          </a:custGeom>
          <a:blipFill>
            <a:blip r:embed="rId11">
              <a:alphaModFix amt="72000"/>
              <a:extLst>
                <a:ext uri="{96DAC541-7B7A-43D3-8B79-37D633B846F1}">
                  <asvg:svgBlip xmlns:asvg="http://schemas.microsoft.com/office/drawing/2016/SVG/main" r:embed="rId12"/>
                </a:ext>
              </a:extLst>
            </a:blip>
            <a:stretch>
              <a:fillRect l="0" t="0" r="0" b="0"/>
            </a:stretch>
          </a:blipFill>
        </p:spPr>
      </p:sp>
      <p:sp>
        <p:nvSpPr>
          <p:cNvPr name="TextBox 14" id="14"/>
          <p:cNvSpPr txBox="true"/>
          <p:nvPr/>
        </p:nvSpPr>
        <p:spPr>
          <a:xfrm rot="0">
            <a:off x="5353050" y="4117264"/>
            <a:ext cx="7581900" cy="1749425"/>
          </a:xfrm>
          <a:prstGeom prst="rect">
            <a:avLst/>
          </a:prstGeom>
        </p:spPr>
        <p:txBody>
          <a:bodyPr anchor="t" rtlCol="false" tIns="0" lIns="0" bIns="0" rIns="0">
            <a:spAutoFit/>
          </a:bodyPr>
          <a:lstStyle/>
          <a:p>
            <a:pPr algn="ctr">
              <a:lnSpc>
                <a:spcPts val="7000"/>
              </a:lnSpc>
            </a:pPr>
            <a:r>
              <a:rPr lang="en-US" sz="5000" spc="610">
                <a:solidFill>
                  <a:srgbClr val="FFFFFF"/>
                </a:solidFill>
                <a:latin typeface="Gliker"/>
                <a:ea typeface="Gliker"/>
                <a:cs typeface="Gliker"/>
                <a:sym typeface="Gliker"/>
              </a:rPr>
              <a:t>LIVE DEMO SESSION</a:t>
            </a:r>
          </a:p>
          <a:p>
            <a:pPr algn="ctr" marL="0" indent="0" lvl="0">
              <a:lnSpc>
                <a:spcPts val="7000"/>
              </a:lnSpc>
              <a:spcBef>
                <a:spcPct val="0"/>
              </a:spcBef>
            </a:pPr>
            <a:r>
              <a:rPr lang="en-US" sz="5000" spc="610">
                <a:solidFill>
                  <a:srgbClr val="FFFFFF"/>
                </a:solidFill>
                <a:latin typeface="Gliker"/>
                <a:ea typeface="Gliker"/>
                <a:cs typeface="Gliker"/>
                <a:sym typeface="Gliker"/>
              </a:rPr>
              <a:t>(DASHBOARD)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DAG63xjlY98</dc:identifier>
  <dcterms:modified xsi:type="dcterms:W3CDTF">2011-08-01T06:04:30Z</dcterms:modified>
  <cp:revision>1</cp:revision>
  <dc:title>Kelompok 11_Kebun Raya</dc:title>
</cp:coreProperties>
</file>